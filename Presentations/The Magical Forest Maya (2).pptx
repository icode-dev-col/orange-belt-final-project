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oppins"/>
      <p:regular r:id="rId31"/>
      <p:bold r:id="rId32"/>
      <p:italic r:id="rId33"/>
      <p:boldItalic r:id="rId34"/>
    </p:embeddedFont>
    <p:embeddedFont>
      <p:font typeface="Poppins Medium"/>
      <p:regular r:id="rId35"/>
      <p:bold r:id="rId36"/>
      <p:italic r:id="rId37"/>
      <p:boldItalic r:id="rId38"/>
    </p:embeddedFont>
    <p:embeddedFont>
      <p:font typeface="Nunito Sans SemiBold"/>
      <p:regular r:id="rId39"/>
      <p:bold r:id="rId40"/>
      <p:italic r:id="rId41"/>
      <p:boldItalic r:id="rId42"/>
    </p:embeddedFont>
    <p:embeddedFont>
      <p:font typeface="Poppins SemiBold"/>
      <p:regular r:id="rId43"/>
      <p:bold r:id="rId44"/>
      <p:italic r:id="rId45"/>
      <p:boldItalic r:id="rId46"/>
    </p:embeddedFont>
    <p:embeddedFont>
      <p:font typeface="Nunito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SemiBold-bold.fntdata"/><Relationship Id="rId42" Type="http://schemas.openxmlformats.org/officeDocument/2006/relationships/font" Target="fonts/NunitoSansSemiBold-boldItalic.fntdata"/><Relationship Id="rId41" Type="http://schemas.openxmlformats.org/officeDocument/2006/relationships/font" Target="fonts/NunitoSansSemiBold-italic.fntdata"/><Relationship Id="rId44" Type="http://schemas.openxmlformats.org/officeDocument/2006/relationships/font" Target="fonts/PoppinsSemiBold-bold.fntdata"/><Relationship Id="rId43" Type="http://schemas.openxmlformats.org/officeDocument/2006/relationships/font" Target="fonts/PoppinsSemiBold-regular.fntdata"/><Relationship Id="rId46" Type="http://schemas.openxmlformats.org/officeDocument/2006/relationships/font" Target="fonts/PoppinsSemiBold-boldItalic.fntdata"/><Relationship Id="rId45"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Sans-bold.fntdata"/><Relationship Id="rId47" Type="http://schemas.openxmlformats.org/officeDocument/2006/relationships/font" Target="fonts/NunitoSans-regular.fntdata"/><Relationship Id="rId49" Type="http://schemas.openxmlformats.org/officeDocument/2006/relationships/font" Target="fonts/Nunito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regular.fntdata"/><Relationship Id="rId30" Type="http://schemas.openxmlformats.org/officeDocument/2006/relationships/slide" Target="slides/slide25.xml"/><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PoppinsMedium-regular.fntdata"/><Relationship Id="rId34" Type="http://schemas.openxmlformats.org/officeDocument/2006/relationships/font" Target="fonts/Poppins-boldItalic.fntdata"/><Relationship Id="rId37" Type="http://schemas.openxmlformats.org/officeDocument/2006/relationships/font" Target="fonts/PoppinsMedium-italic.fntdata"/><Relationship Id="rId36" Type="http://schemas.openxmlformats.org/officeDocument/2006/relationships/font" Target="fonts/PoppinsMedium-bold.fntdata"/><Relationship Id="rId39" Type="http://schemas.openxmlformats.org/officeDocument/2006/relationships/font" Target="fonts/NunitoSansSemiBold-regular.fntdata"/><Relationship Id="rId38" Type="http://schemas.openxmlformats.org/officeDocument/2006/relationships/font" Target="fonts/PoppinsMedium-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Nuni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e5ace6e33e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e5ace6e33e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I'm Maya Bhatt, and I was the lead graphic designer (as well as front-end architect along with Aiden) for our team's project, The Magical Forest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746a80e9a_1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g3e746a80e9a_1_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what exactly is The Magical Forest? It's a multi-page fantasy website - think Lord of the Rings vibes. You can explore three mythical creatures: a Dragon, an Elf, and a Pixie. Each one has its own gallery, lore page, and a mini-game! And the coolest part? It's actually live on the internet - anyone in the world can visit it right now at that link. We deployed it using something called GitHub Pages, which I'll talk about in a bit.</a:t>
            </a:r>
            <a:endParaRPr sz="1200">
              <a:solidFill>
                <a:schemeClr val="dk1"/>
              </a:solidFill>
              <a:latin typeface="Arial"/>
              <a:ea typeface="Arial"/>
              <a:cs typeface="Arial"/>
              <a:sym typeface="Arial"/>
            </a:endParaRPr>
          </a:p>
        </p:txBody>
      </p:sp>
      <p:sp>
        <p:nvSpPr>
          <p:cNvPr id="436" name="Google Shape;436;g3e746a80e9a_1_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5ace6e33e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5ace6e33e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5ace6e33e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5ace6e33e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5ace6e33e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5ace6e33e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746a80e9a_1_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g3e746a80e9a_1_2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1100">
                <a:solidFill>
                  <a:schemeClr val="dk1"/>
                </a:solidFill>
              </a:rPr>
              <a:t>Okay, let's get into the technical stuff - starting with what tools we actually used to build this.</a:t>
            </a:r>
            <a:endParaRPr sz="1200">
              <a:solidFill>
                <a:schemeClr val="dk1"/>
              </a:solidFill>
            </a:endParaRPr>
          </a:p>
        </p:txBody>
      </p:sp>
      <p:sp>
        <p:nvSpPr>
          <p:cNvPr id="525" name="Google Shape;525;g3e746a80e9a_1_2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e746a80e9a_1_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g3e746a80e9a_1_2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Every single website you've ever visited was built using these three things: HTML, CSS, and JavaScript. I like to think of them this way… HTML is the skeleton, it sets up all the structure. CSS is the clothes, it makes everything look good. And JavaScript is the brain, it makes things actually do stuff. We used all three together throughout this whole project.</a:t>
            </a:r>
            <a:endParaRPr sz="1200">
              <a:solidFill>
                <a:schemeClr val="dk1"/>
              </a:solidFill>
              <a:latin typeface="Arial"/>
              <a:ea typeface="Arial"/>
              <a:cs typeface="Arial"/>
              <a:sym typeface="Arial"/>
            </a:endParaRPr>
          </a:p>
        </p:txBody>
      </p:sp>
      <p:sp>
        <p:nvSpPr>
          <p:cNvPr id="534" name="Google Shape;534;g3e746a80e9a_1_2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746a80e9a_1_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g3e746a80e9a_1_4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how did we save our work and actually put the site on the internet? GitHub! Think of it like Google Docs - but for code. Every time we saved a new version, that's called a commit. We racked up 122 commits on this project, which is honestly a lot of saving! GitHub also lets you track who changed what and when, which is super useful when four people are working on the same files. And GitHub Pages - that's the magic feature that turns your code into a real website with a real URL, totally free.</a:t>
            </a:r>
            <a:endParaRPr sz="1200">
              <a:solidFill>
                <a:schemeClr val="dk1"/>
              </a:solidFill>
              <a:latin typeface="Arial"/>
              <a:ea typeface="Arial"/>
              <a:cs typeface="Arial"/>
              <a:sym typeface="Arial"/>
            </a:endParaRPr>
          </a:p>
        </p:txBody>
      </p:sp>
      <p:sp>
        <p:nvSpPr>
          <p:cNvPr id="550" name="Google Shape;550;g3e746a80e9a_1_4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746a80e9a_1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g3e746a80e9a_1_5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Next up - how we organized all our files. This might sound boring but trust me, getting this wrong makes everything fall apart.</a:t>
            </a:r>
            <a:endParaRPr sz="1200">
              <a:solidFill>
                <a:schemeClr val="dk1"/>
              </a:solidFill>
              <a:latin typeface="Arial"/>
              <a:ea typeface="Arial"/>
              <a:cs typeface="Arial"/>
              <a:sym typeface="Arial"/>
            </a:endParaRPr>
          </a:p>
        </p:txBody>
      </p:sp>
      <p:sp>
        <p:nvSpPr>
          <p:cNvPr id="560" name="Google Shape;560;g3e746a80e9a_1_5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e746a80e9a_1_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g3e746a80e9a_1_6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We have a lot of files in this project. To keep things sane, we organized everything like rooms in a house. The main index.html is like the front door. Then each creature - dragon, elf, pixie, gets its own folder. And inside each folder there's the same three pages: a gallery, a lore page, and a game. One CSS file handles all the styling across every single page. Having this structure meant when someone needed to find something, they actually could.</a:t>
            </a:r>
            <a:endParaRPr sz="1200">
              <a:solidFill>
                <a:schemeClr val="dk1"/>
              </a:solidFill>
              <a:latin typeface="Arial"/>
              <a:ea typeface="Arial"/>
              <a:cs typeface="Arial"/>
              <a:sym typeface="Arial"/>
            </a:endParaRPr>
          </a:p>
        </p:txBody>
      </p:sp>
      <p:sp>
        <p:nvSpPr>
          <p:cNvPr id="571" name="Google Shape;571;g3e746a80e9a_1_6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e746a80e9a_1_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g3e746a80e9a_1_6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Okay this one tripped us up at first. When you link from one page to another, you have two options: an absolute link, the full URL, or a relative link, which is like giving directions from where you already are. We used relative links everywhere. So inside the dragon folder, to get back to the home page, we write ../index.html - that .. means 'go up one folder.' It's like saying 'back out the dragon door, now you're home.' The big reason to use relative links? The site works whether it's running on our laptop or on GitHub Pages. No rewriting links every time.</a:t>
            </a:r>
            <a:endParaRPr sz="1200">
              <a:solidFill>
                <a:schemeClr val="dk1"/>
              </a:solidFill>
              <a:latin typeface="Arial"/>
              <a:ea typeface="Arial"/>
              <a:cs typeface="Arial"/>
              <a:sym typeface="Arial"/>
            </a:endParaRPr>
          </a:p>
        </p:txBody>
      </p:sp>
      <p:sp>
        <p:nvSpPr>
          <p:cNvPr id="580" name="Google Shape;580;g3e746a80e9a_1_6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e746a80e9a_1_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g3e746a80e9a_1_7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This is CSS. As the designer, this is where I lived for this project.</a:t>
            </a:r>
            <a:endParaRPr sz="1200">
              <a:solidFill>
                <a:schemeClr val="dk1"/>
              </a:solidFill>
              <a:latin typeface="Arial"/>
              <a:ea typeface="Arial"/>
              <a:cs typeface="Arial"/>
              <a:sym typeface="Arial"/>
            </a:endParaRPr>
          </a:p>
        </p:txBody>
      </p:sp>
      <p:sp>
        <p:nvSpPr>
          <p:cNvPr id="590" name="Google Shape;590;g3e746a80e9a_1_7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e746a80e9a_1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g3e746a80e9a_1_8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CSS variables were honestly a game-changer for us. Instead of typing the same gold color hex code, #C9A84C, 50 times across 10 files, we defined it once at the top with a nickname. Then everywhere we needed that gold, we just write var(--gold). When we wanted to tweak the shade? We changed one line and it updated everywhere instantly. Real companies call this a Design Token - and now we know why they use it!</a:t>
            </a:r>
            <a:endParaRPr sz="1200">
              <a:solidFill>
                <a:schemeClr val="dk1"/>
              </a:solidFill>
              <a:latin typeface="Arial"/>
              <a:ea typeface="Arial"/>
              <a:cs typeface="Arial"/>
              <a:sym typeface="Arial"/>
            </a:endParaRPr>
          </a:p>
        </p:txBody>
      </p:sp>
      <p:sp>
        <p:nvSpPr>
          <p:cNvPr id="598" name="Google Shape;598;g3e746a80e9a_1_8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e746a80e9a_1_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g3e746a80e9a_1_9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You know that frosted glass effect on our nav bar where you can kind of see the forest through it? That's called glassmorphism, and it's all CSS. The key line is backdrop-filter: blur(10px) - that literally blurs whatever is behind the element. Then rgba() controls how see-through the background is. The last number in rgba is the alpha, which is basically the opacity - 0 is invisible, 1 is fully solid. Oh, and this is actually a pretty modern CSS feature… it didn't even exist like 5 years ago!</a:t>
            </a:r>
            <a:endParaRPr sz="1200">
              <a:solidFill>
                <a:schemeClr val="dk1"/>
              </a:solidFill>
              <a:latin typeface="Arial"/>
              <a:ea typeface="Arial"/>
              <a:cs typeface="Arial"/>
              <a:sym typeface="Arial"/>
            </a:endParaRPr>
          </a:p>
        </p:txBody>
      </p:sp>
      <p:sp>
        <p:nvSpPr>
          <p:cNvPr id="608" name="Google Shape;608;g3e746a80e9a_1_9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e746a80e9a_1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g3e746a80e9a_1_10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The floating fireflies on our home page? Pure CSS, no JavaScript involved. We used @keyframes to define an animation - basically you're telling the browser 'start here, go here, come back.' translateY moves the element up and down in pixels. And infinite makes it loop forever. The coolest trick: we gave each firefly a different animation-delay, so they all float out of sync… just like real fireflies!</a:t>
            </a:r>
            <a:endParaRPr sz="1200">
              <a:solidFill>
                <a:schemeClr val="dk1"/>
              </a:solidFill>
              <a:latin typeface="Arial"/>
              <a:ea typeface="Arial"/>
              <a:cs typeface="Arial"/>
              <a:sym typeface="Arial"/>
            </a:endParaRPr>
          </a:p>
        </p:txBody>
      </p:sp>
      <p:sp>
        <p:nvSpPr>
          <p:cNvPr id="620" name="Google Shape;620;g3e746a80e9a_1_10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e746a80e9a_1_1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g3e746a80e9a_1_1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These are the two big layout tools in CSS. Flexbox is great for lining things up in one direction - like our nav bar, or centering something on the page. Think of it like a conveyor belt. Grid is more powerful - it handles rows and columns at the same time. We used Grid for the creature card layout so all three cards line up perfectly across the page. We actually used both on the same site, because they solve different problems.</a:t>
            </a:r>
            <a:endParaRPr sz="1200">
              <a:solidFill>
                <a:schemeClr val="dk1"/>
              </a:solidFill>
              <a:latin typeface="Arial"/>
              <a:ea typeface="Arial"/>
              <a:cs typeface="Arial"/>
              <a:sym typeface="Arial"/>
            </a:endParaRPr>
          </a:p>
        </p:txBody>
      </p:sp>
      <p:sp>
        <p:nvSpPr>
          <p:cNvPr id="630" name="Google Shape;630;g3e746a80e9a_1_1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746a80e9a_1_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9" name="Google Shape;639;g3e746a80e9a_1_12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Now JavaScript… this is where the site stops being a picture and starts being an experience.</a:t>
            </a:r>
            <a:endParaRPr sz="1200">
              <a:solidFill>
                <a:schemeClr val="dk1"/>
              </a:solidFill>
              <a:latin typeface="Arial"/>
              <a:ea typeface="Arial"/>
              <a:cs typeface="Arial"/>
              <a:sym typeface="Arial"/>
            </a:endParaRPr>
          </a:p>
        </p:txBody>
      </p:sp>
      <p:sp>
        <p:nvSpPr>
          <p:cNvPr id="640" name="Google Shape;640;g3e746a80e9a_1_12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746a80e9a_1_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g3e746a80e9a_1_12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JavaScript works by listening and reacting. An event listener sits on an element and waits - 'did someone click this?' When they do, it runs a function. In our case, clicking the Enter button hides the overlay and starts playing the forest music. The function that runs when the event fires is called a callback. We can listen for all kinds of events; clicks, key presses, scrolling, mouse movement. It's JavaScript's way of making the page respond to the user.</a:t>
            </a:r>
            <a:endParaRPr sz="1200">
              <a:solidFill>
                <a:schemeClr val="dk1"/>
              </a:solidFill>
              <a:latin typeface="Arial"/>
              <a:ea typeface="Arial"/>
              <a:cs typeface="Arial"/>
              <a:sym typeface="Arial"/>
            </a:endParaRPr>
          </a:p>
        </p:txBody>
      </p:sp>
      <p:sp>
        <p:nvSpPr>
          <p:cNvPr id="648" name="Google Shape;648;g3e746a80e9a_1_12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746a80e9a_1_1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g3e746a80e9a_1_13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we wanted music to play when you open the site. Turns out: browsers block that by default. It's called the Autoplay Policy, and it's a real browser rule designed so random websites can't just blast sound at you. It's not a bug we made, it's intentional! The fix? You have to wait for the user to click something first. So we made the 'Enter the Realm' overlay… the user clicks it, that satisfies the browser's rule, and then we trigger forestAudio.play() right inside that click event. Two birds, one stone.</a:t>
            </a:r>
            <a:endParaRPr sz="1200">
              <a:solidFill>
                <a:schemeClr val="dk1"/>
              </a:solidFill>
              <a:latin typeface="Arial"/>
              <a:ea typeface="Arial"/>
              <a:cs typeface="Arial"/>
              <a:sym typeface="Arial"/>
            </a:endParaRPr>
          </a:p>
        </p:txBody>
      </p:sp>
      <p:sp>
        <p:nvSpPr>
          <p:cNvPr id="658" name="Google Shape;658;g3e746a80e9a_1_13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e746a80e9a_1_1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5" name="Google Shape;665;g3e746a80e9a_1_15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Games need memory. They need to know: what's the score? How many times has the dragon breathed fire? We store that in variables like score and hits. Every time the player does something, we update those variables and then update what shows on screen with innerText. This idea… the current snapshot of everything happening in your program, is called state. Even huge apps like Instagram are doing the same thing, just with way more variables.</a:t>
            </a:r>
            <a:endParaRPr sz="1200">
              <a:solidFill>
                <a:schemeClr val="dk1"/>
              </a:solidFill>
              <a:latin typeface="Arial"/>
              <a:ea typeface="Arial"/>
              <a:cs typeface="Arial"/>
              <a:sym typeface="Arial"/>
            </a:endParaRPr>
          </a:p>
        </p:txBody>
      </p:sp>
      <p:sp>
        <p:nvSpPr>
          <p:cNvPr id="666" name="Google Shape;666;g3e746a80e9a_1_15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e746a80e9a_1_1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 name="Google Shape;675;g3e746a80e9a_1_17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Alright, wrapping up!</a:t>
            </a:r>
            <a:endParaRPr sz="1200">
              <a:solidFill>
                <a:schemeClr val="dk1"/>
              </a:solidFill>
              <a:latin typeface="Arial"/>
              <a:ea typeface="Arial"/>
              <a:cs typeface="Arial"/>
              <a:sym typeface="Arial"/>
            </a:endParaRPr>
          </a:p>
        </p:txBody>
      </p:sp>
      <p:sp>
        <p:nvSpPr>
          <p:cNvPr id="676" name="Google Shape;676;g3e746a80e9a_1_17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746a80e9a_1_1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g3e746a80e9a_1_19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Honestly, the challenges are where we learned the most. Audio getting blocked by the browser - fixed it with the overlay. Broken links between sub-folders - figured out relative paths. Making the site look good on phones and laptops - used Grid and Flexbox together. Gems in the game causing the browser to slow down - used setTimeout to delete old ones automatically. Colors getting inconsistent across 10 files - CSS variables saved us. And working as a team on the same code - GitHub branches kept us from overwriting each other's work.</a:t>
            </a:r>
            <a:endParaRPr sz="1200">
              <a:solidFill>
                <a:schemeClr val="dk1"/>
              </a:solidFill>
              <a:latin typeface="Arial"/>
              <a:ea typeface="Arial"/>
              <a:cs typeface="Arial"/>
              <a:sym typeface="Arial"/>
            </a:endParaRPr>
          </a:p>
        </p:txBody>
      </p:sp>
      <p:sp>
        <p:nvSpPr>
          <p:cNvPr id="684" name="Google Shape;684;g3e746a80e9a_1_19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e746a80e9a_1_2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3" name="Google Shape;693;g3e746a80e9a_1_20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personally? I went from knowing basically nothing about web design to understanding how real-world websites are actually put together. CSS variables sound like a small thing but they saved us so much time. Glassmorphism and keyframe animations were the most fun to figure out. And honestly - reading error messages is like 50% of coding. Once you stop being scared of them and actually read them, they usually tell you exactly what's wrong.</a:t>
            </a:r>
            <a:endParaRPr sz="1200">
              <a:solidFill>
                <a:schemeClr val="dk1"/>
              </a:solidFill>
              <a:latin typeface="Arial"/>
              <a:ea typeface="Arial"/>
              <a:cs typeface="Arial"/>
              <a:sym typeface="Arial"/>
            </a:endParaRPr>
          </a:p>
        </p:txBody>
      </p:sp>
      <p:sp>
        <p:nvSpPr>
          <p:cNvPr id="694" name="Google Shape;694;g3e746a80e9a_1_20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746a80e9a_1_2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g3e746a80e9a_1_21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Okay… enough slides, let's actually see it. I'm going to pull up the live site. We'll start with the home page - check out the firefly animations and the glassmorphism nav. Then we'll hop into each creature hub and show off the mini-games. The link is right there if you want to visit it on your own phone right now.</a:t>
            </a:r>
            <a:endParaRPr sz="1200">
              <a:solidFill>
                <a:schemeClr val="dk1"/>
              </a:solidFill>
              <a:latin typeface="Arial"/>
              <a:ea typeface="Arial"/>
              <a:cs typeface="Arial"/>
              <a:sym typeface="Arial"/>
            </a:endParaRPr>
          </a:p>
        </p:txBody>
      </p:sp>
      <p:sp>
        <p:nvSpPr>
          <p:cNvPr id="701" name="Google Shape;701;g3e746a80e9a_1_21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e746a80e9a_1_2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 name="Google Shape;722;g3e746a80e9a_1_23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And that's The Magical Forest! HTML gave us the bones, CSS gave it a look, and JavaScript made it alive. Thanks for watching… happy to answer any questions!</a:t>
            </a:r>
            <a:endParaRPr sz="1200">
              <a:solidFill>
                <a:schemeClr val="dk1"/>
              </a:solidFill>
              <a:latin typeface="Arial"/>
              <a:ea typeface="Arial"/>
              <a:cs typeface="Arial"/>
              <a:sym typeface="Arial"/>
            </a:endParaRPr>
          </a:p>
        </p:txBody>
      </p:sp>
      <p:sp>
        <p:nvSpPr>
          <p:cNvPr id="723" name="Google Shape;723;g3e746a80e9a_1_23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2" name="Shape 4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11.jpg"/><Relationship Id="rId9" Type="http://schemas.openxmlformats.org/officeDocument/2006/relationships/image" Target="../media/image17.jpg"/><Relationship Id="rId5" Type="http://schemas.openxmlformats.org/officeDocument/2006/relationships/image" Target="../media/image13.jpg"/><Relationship Id="rId6" Type="http://schemas.openxmlformats.org/officeDocument/2006/relationships/image" Target="../media/image14.jpg"/><Relationship Id="rId7" Type="http://schemas.openxmlformats.org/officeDocument/2006/relationships/image" Target="../media/image15.jpg"/><Relationship Id="rId8" Type="http://schemas.openxmlformats.org/officeDocument/2006/relationships/image" Target="../media/image16.jpg"/><Relationship Id="rId11" Type="http://schemas.openxmlformats.org/officeDocument/2006/relationships/image" Target="../media/image22.gif"/><Relationship Id="rId10"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2.jpg"/><Relationship Id="rId7" Type="http://schemas.openxmlformats.org/officeDocument/2006/relationships/image" Target="../media/image25.jpg"/><Relationship Id="rId8" Type="http://schemas.openxmlformats.org/officeDocument/2006/relationships/image" Target="../media/image2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8.jpg"/><Relationship Id="rId4" Type="http://schemas.openxmlformats.org/officeDocument/2006/relationships/image" Target="../media/image3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6.xml"/><Relationship Id="rId3" Type="http://schemas.openxmlformats.org/officeDocument/2006/relationships/image" Target="../media/image2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 Id="rId3"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9.xml"/><Relationship Id="rId3" Type="http://schemas.openxmlformats.org/officeDocument/2006/relationships/image" Target="../media/image19.jpg"/><Relationship Id="rId4" Type="http://schemas.openxmlformats.org/officeDocument/2006/relationships/image" Target="../media/image2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 Id="rId3"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 Id="rId3"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2.xml"/><Relationship Id="rId3"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4.xml"/><Relationship Id="rId3"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5.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761D"/>
        </a:solidFill>
      </p:bgPr>
    </p:bg>
    <p:spTree>
      <p:nvGrpSpPr>
        <p:cNvPr id="426" name="Shape 426"/>
        <p:cNvGrpSpPr/>
        <p:nvPr/>
      </p:nvGrpSpPr>
      <p:grpSpPr>
        <a:xfrm>
          <a:off x="0" y="0"/>
          <a:ext cx="0" cy="0"/>
          <a:chOff x="0" y="0"/>
          <a:chExt cx="0" cy="0"/>
        </a:xfrm>
      </p:grpSpPr>
      <p:sp>
        <p:nvSpPr>
          <p:cNvPr id="427" name="Google Shape;427;p46"/>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428" name="Google Shape;428;p46"/>
          <p:cNvSpPr txBox="1"/>
          <p:nvPr/>
        </p:nvSpPr>
        <p:spPr>
          <a:xfrm>
            <a:off x="1590075" y="952775"/>
            <a:ext cx="61386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Nunito Sans"/>
                <a:ea typeface="Nunito Sans"/>
                <a:cs typeface="Nunito Sans"/>
                <a:sym typeface="Nunito Sans"/>
              </a:rPr>
              <a:t>Hello! My name is Maya Bhatt, and I am the graphic designer of this project. I help with the background, the font, the pictures, and fixing any problems that show on the website for anything. This website has three mythical creatures: the elf, the pixie, and the dragon. I have a team of four, and we worked together on this website, each of us with different roles and expectations.</a:t>
            </a:r>
            <a:endParaRPr sz="1700">
              <a:solidFill>
                <a:schemeClr val="dk1"/>
              </a:solidFill>
              <a:latin typeface="Nunito Sans"/>
              <a:ea typeface="Nunito Sans"/>
              <a:cs typeface="Nunito Sans"/>
              <a:sym typeface="Nunito Sans"/>
            </a:endParaRPr>
          </a:p>
        </p:txBody>
      </p:sp>
      <p:sp>
        <p:nvSpPr>
          <p:cNvPr id="429" name="Google Shape;429;p46"/>
          <p:cNvSpPr txBox="1"/>
          <p:nvPr/>
        </p:nvSpPr>
        <p:spPr>
          <a:xfrm>
            <a:off x="2410700" y="515825"/>
            <a:ext cx="12900" cy="8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Nunito Sans"/>
              <a:ea typeface="Nunito Sans"/>
              <a:cs typeface="Nunito Sans"/>
              <a:sym typeface="Nunito Sans"/>
            </a:endParaRPr>
          </a:p>
        </p:txBody>
      </p:sp>
      <p:pic>
        <p:nvPicPr>
          <p:cNvPr descr="Royalty-Free photo: Low angle photo of trees | PickPik" id="430" name="Google Shape;430;p46"/>
          <p:cNvPicPr preferRelativeResize="0"/>
          <p:nvPr/>
        </p:nvPicPr>
        <p:blipFill>
          <a:blip r:embed="rId3">
            <a:alphaModFix/>
          </a:blip>
          <a:stretch>
            <a:fillRect/>
          </a:stretch>
        </p:blipFill>
        <p:spPr>
          <a:xfrm>
            <a:off x="-93775" y="0"/>
            <a:ext cx="9237776" cy="5143500"/>
          </a:xfrm>
          <a:prstGeom prst="rect">
            <a:avLst/>
          </a:prstGeom>
          <a:noFill/>
          <a:ln>
            <a:noFill/>
          </a:ln>
        </p:spPr>
      </p:pic>
      <p:sp>
        <p:nvSpPr>
          <p:cNvPr id="431" name="Google Shape;431;p46"/>
          <p:cNvSpPr/>
          <p:nvPr/>
        </p:nvSpPr>
        <p:spPr>
          <a:xfrm>
            <a:off x="476175" y="1340306"/>
            <a:ext cx="8191656" cy="889479"/>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The Magical Forest</a:t>
            </a:r>
          </a:p>
        </p:txBody>
      </p:sp>
      <p:sp>
        <p:nvSpPr>
          <p:cNvPr id="432" name="Google Shape;432;p46"/>
          <p:cNvSpPr/>
          <p:nvPr/>
        </p:nvSpPr>
        <p:spPr>
          <a:xfrm>
            <a:off x="217857" y="2969050"/>
            <a:ext cx="8614377" cy="1219100"/>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lt2"/>
                </a:solidFill>
                <a:latin typeface="Arial"/>
              </a:rPr>
              <a:t>By Maya Bhatt</a:t>
            </a:r>
            <a:br>
              <a:rPr b="1" i="0">
                <a:ln cap="flat" cmpd="sng" w="9525">
                  <a:solidFill>
                    <a:schemeClr val="dk2"/>
                  </a:solidFill>
                  <a:prstDash val="solid"/>
                  <a:round/>
                  <a:headEnd len="sm" w="sm" type="none"/>
                  <a:tailEnd len="sm" w="sm" type="none"/>
                </a:ln>
                <a:solidFill>
                  <a:schemeClr val="lt2"/>
                </a:solidFill>
                <a:latin typeface="Arial"/>
              </a:rPr>
            </a:br>
            <a:r>
              <a:rPr b="1" i="0">
                <a:ln cap="flat" cmpd="sng" w="9525">
                  <a:solidFill>
                    <a:schemeClr val="dk2"/>
                  </a:solidFill>
                  <a:prstDash val="solid"/>
                  <a:round/>
                  <a:headEnd len="sm" w="sm" type="none"/>
                  <a:tailEnd len="sm" w="sm" type="none"/>
                </a:ln>
                <a:solidFill>
                  <a:schemeClr val="lt2"/>
                </a:solidFill>
                <a:latin typeface="Arial"/>
              </a:rPr>
              <a:t/>
            </a:r>
            <a:br>
              <a:rPr b="1" i="0">
                <a:ln cap="flat" cmpd="sng" w="9525">
                  <a:solidFill>
                    <a:schemeClr val="dk2"/>
                  </a:solidFill>
                  <a:prstDash val="solid"/>
                  <a:round/>
                  <a:headEnd len="sm" w="sm" type="none"/>
                  <a:tailEnd len="sm" w="sm" type="none"/>
                </a:ln>
                <a:solidFill>
                  <a:schemeClr val="lt2"/>
                </a:solidFill>
                <a:latin typeface="Arial"/>
              </a:rPr>
            </a:br>
            <a:r>
              <a:rPr b="1" i="0">
                <a:ln cap="flat" cmpd="sng" w="9525">
                  <a:solidFill>
                    <a:schemeClr val="dk2"/>
                  </a:solidFill>
                  <a:prstDash val="solid"/>
                  <a:round/>
                  <a:headEnd len="sm" w="sm" type="none"/>
                  <a:tailEnd len="sm" w="sm" type="none"/>
                </a:ln>
                <a:solidFill>
                  <a:schemeClr val="lt2"/>
                </a:solidFill>
                <a:latin typeface="Arial"/>
              </a:rPr>
              <a:t>13 June 2026 | Orange Belt Final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7" name="Shape 437"/>
        <p:cNvGrpSpPr/>
        <p:nvPr/>
      </p:nvGrpSpPr>
      <p:grpSpPr>
        <a:xfrm>
          <a:off x="0" y="0"/>
          <a:ext cx="0" cy="0"/>
          <a:chOff x="0" y="0"/>
          <a:chExt cx="0" cy="0"/>
        </a:xfrm>
      </p:grpSpPr>
      <p:sp>
        <p:nvSpPr>
          <p:cNvPr id="438" name="Google Shape;438;p47"/>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What Did We Build?</a:t>
            </a:r>
            <a:endParaRPr sz="2800">
              <a:solidFill>
                <a:schemeClr val="dk1"/>
              </a:solidFill>
              <a:latin typeface="Calibri"/>
              <a:ea typeface="Calibri"/>
              <a:cs typeface="Calibri"/>
              <a:sym typeface="Calibri"/>
            </a:endParaRPr>
          </a:p>
        </p:txBody>
      </p:sp>
      <p:sp>
        <p:nvSpPr>
          <p:cNvPr id="439" name="Google Shape;439;p47"/>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A quick tour of the whole thing</a:t>
            </a:r>
            <a:endParaRPr sz="1600">
              <a:solidFill>
                <a:schemeClr val="dk1"/>
              </a:solidFill>
              <a:latin typeface="Calibri"/>
              <a:ea typeface="Calibri"/>
              <a:cs typeface="Calibri"/>
              <a:sym typeface="Calibri"/>
            </a:endParaRPr>
          </a:p>
        </p:txBody>
      </p:sp>
      <p:sp>
        <p:nvSpPr>
          <p:cNvPr id="440" name="Google Shape;440;p47"/>
          <p:cNvSpPr/>
          <p:nvPr/>
        </p:nvSpPr>
        <p:spPr>
          <a:xfrm>
            <a:off x="457200" y="1417320"/>
            <a:ext cx="822960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A multi-page, fantasy-themed website called The Magical Forest 🌲</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Inspired by the look and feel of Lord of the Rings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Visitors explore three magical creatures: Dragon 🐉, Elf 🧝, and Pixie 🧚</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Each creature has its own Gallery page, Lore page, and a Mini-Game</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It's all live on the internet using GitHub Pages: anyone can visit it!</a:t>
            </a:r>
            <a:endParaRPr sz="1500">
              <a:solidFill>
                <a:schemeClr val="dk1"/>
              </a:solidFill>
              <a:latin typeface="Calibri"/>
              <a:ea typeface="Calibri"/>
              <a:cs typeface="Calibri"/>
              <a:sym typeface="Calibri"/>
            </a:endParaRPr>
          </a:p>
        </p:txBody>
      </p:sp>
      <p:sp>
        <p:nvSpPr>
          <p:cNvPr id="441" name="Google Shape;441;p47"/>
          <p:cNvSpPr/>
          <p:nvPr/>
        </p:nvSpPr>
        <p:spPr>
          <a:xfrm>
            <a:off x="457200" y="457200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8B5E"/>
              </a:buClr>
              <a:buSzPts val="1200"/>
              <a:buFont typeface="Consolas"/>
              <a:buNone/>
            </a:pPr>
            <a:r>
              <a:rPr i="1" lang="en" sz="1200">
                <a:solidFill>
                  <a:srgbClr val="3D8B5E"/>
                </a:solidFill>
                <a:latin typeface="Consolas"/>
                <a:ea typeface="Consolas"/>
                <a:cs typeface="Consolas"/>
                <a:sym typeface="Consolas"/>
              </a:rPr>
              <a:t>🔗 icode-dev-col.github.io/Orange-Belt-Final-Project</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8"/>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pic>
        <p:nvPicPr>
          <p:cNvPr descr="A woman looks at the camera and smiles while resting her face on her hand. " id="447" name="Google Shape;447;p48"/>
          <p:cNvPicPr preferRelativeResize="0"/>
          <p:nvPr>
            <p:ph idx="2" type="pic"/>
          </p:nvPr>
        </p:nvPicPr>
        <p:blipFill rotWithShape="1">
          <a:blip r:embed="rId3">
            <a:alphaModFix/>
          </a:blip>
          <a:srcRect b="0" l="16746" r="16746" t="0"/>
          <a:stretch/>
        </p:blipFill>
        <p:spPr>
          <a:xfrm>
            <a:off x="1208525" y="1164275"/>
            <a:ext cx="1115700" cy="1118100"/>
          </a:xfrm>
          <a:prstGeom prst="roundRect">
            <a:avLst>
              <a:gd fmla="val 16667" name="adj"/>
            </a:avLst>
          </a:prstGeom>
        </p:spPr>
      </p:pic>
      <p:pic>
        <p:nvPicPr>
          <p:cNvPr descr="A portrait of a woman. " id="448" name="Google Shape;448;p48"/>
          <p:cNvPicPr preferRelativeResize="0"/>
          <p:nvPr>
            <p:ph idx="3" type="pic"/>
          </p:nvPr>
        </p:nvPicPr>
        <p:blipFill rotWithShape="1">
          <a:blip r:embed="rId4">
            <a:alphaModFix/>
          </a:blip>
          <a:srcRect b="39412" l="50575" r="9101" t="0"/>
          <a:stretch/>
        </p:blipFill>
        <p:spPr>
          <a:xfrm>
            <a:off x="3079163" y="1164275"/>
            <a:ext cx="1115700" cy="1118100"/>
          </a:xfrm>
          <a:prstGeom prst="roundRect">
            <a:avLst>
              <a:gd fmla="val 16667" name="adj"/>
            </a:avLst>
          </a:prstGeom>
        </p:spPr>
      </p:pic>
      <p:pic>
        <p:nvPicPr>
          <p:cNvPr descr="A portrait of a man with his arms crossed. " id="449" name="Google Shape;449;p48"/>
          <p:cNvPicPr preferRelativeResize="0"/>
          <p:nvPr>
            <p:ph idx="4" type="pic"/>
          </p:nvPr>
        </p:nvPicPr>
        <p:blipFill rotWithShape="1">
          <a:blip r:embed="rId5">
            <a:alphaModFix/>
          </a:blip>
          <a:srcRect b="20477" l="26059" r="21050" t="0"/>
          <a:stretch/>
        </p:blipFill>
        <p:spPr>
          <a:xfrm>
            <a:off x="4949788" y="1164275"/>
            <a:ext cx="1115700" cy="1118100"/>
          </a:xfrm>
          <a:prstGeom prst="roundRect">
            <a:avLst>
              <a:gd fmla="val 16667" name="adj"/>
            </a:avLst>
          </a:prstGeom>
        </p:spPr>
      </p:pic>
      <p:pic>
        <p:nvPicPr>
          <p:cNvPr descr="A businesswoman looks at the camera while resting her chin on her hand. " id="450" name="Google Shape;450;p48"/>
          <p:cNvPicPr preferRelativeResize="0"/>
          <p:nvPr>
            <p:ph idx="5" type="pic"/>
          </p:nvPr>
        </p:nvPicPr>
        <p:blipFill rotWithShape="1">
          <a:blip r:embed="rId6">
            <a:alphaModFix/>
          </a:blip>
          <a:srcRect b="0" l="33444" r="0" t="0"/>
          <a:stretch/>
        </p:blipFill>
        <p:spPr>
          <a:xfrm>
            <a:off x="6820413" y="1164275"/>
            <a:ext cx="1115700" cy="1118100"/>
          </a:xfrm>
          <a:prstGeom prst="roundRect">
            <a:avLst>
              <a:gd fmla="val 16667" name="adj"/>
            </a:avLst>
          </a:prstGeom>
        </p:spPr>
      </p:pic>
      <p:sp>
        <p:nvSpPr>
          <p:cNvPr id="451" name="Google Shape;451;p48"/>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2" name="Google Shape;452;p48"/>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53" name="Google Shape;453;p48"/>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4" name="Google Shape;454;p48"/>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55" name="Google Shape;455;p48"/>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6" name="Google Shape;456;p48"/>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57" name="Google Shape;457;p48"/>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8" name="Google Shape;458;p48"/>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pic>
        <p:nvPicPr>
          <p:cNvPr descr="A woman in a tanktop smiles for the camera. " id="459" name="Google Shape;459;p48"/>
          <p:cNvPicPr preferRelativeResize="0"/>
          <p:nvPr>
            <p:ph idx="16" type="pic"/>
          </p:nvPr>
        </p:nvPicPr>
        <p:blipFill rotWithShape="1">
          <a:blip r:embed="rId7">
            <a:alphaModFix/>
          </a:blip>
          <a:srcRect b="35179" l="23711" r="33178" t="0"/>
          <a:stretch/>
        </p:blipFill>
        <p:spPr>
          <a:xfrm>
            <a:off x="3079163" y="2958825"/>
            <a:ext cx="1115700" cy="1118100"/>
          </a:xfrm>
          <a:prstGeom prst="roundRect">
            <a:avLst>
              <a:gd fmla="val 16667" name="adj"/>
            </a:avLst>
          </a:prstGeom>
        </p:spPr>
      </p:pic>
      <p:pic>
        <p:nvPicPr>
          <p:cNvPr descr="A portrait of a businesswoman in an office environment. " id="460" name="Google Shape;460;p48"/>
          <p:cNvPicPr preferRelativeResize="0"/>
          <p:nvPr>
            <p:ph idx="17" type="pic"/>
          </p:nvPr>
        </p:nvPicPr>
        <p:blipFill rotWithShape="1">
          <a:blip r:embed="rId8">
            <a:alphaModFix/>
          </a:blip>
          <a:srcRect b="0" l="39305" r="814" t="0"/>
          <a:stretch/>
        </p:blipFill>
        <p:spPr>
          <a:xfrm>
            <a:off x="4949788" y="2958825"/>
            <a:ext cx="1115700" cy="1118100"/>
          </a:xfrm>
          <a:prstGeom prst="roundRect">
            <a:avLst>
              <a:gd fmla="val 16667" name="adj"/>
            </a:avLst>
          </a:prstGeom>
        </p:spPr>
      </p:pic>
      <p:pic>
        <p:nvPicPr>
          <p:cNvPr descr="A man smiles while standing against a bright background. " id="461" name="Google Shape;461;p48"/>
          <p:cNvPicPr preferRelativeResize="0"/>
          <p:nvPr>
            <p:ph idx="18" type="pic"/>
          </p:nvPr>
        </p:nvPicPr>
        <p:blipFill rotWithShape="1">
          <a:blip r:embed="rId9">
            <a:alphaModFix/>
          </a:blip>
          <a:srcRect b="18531" l="0" r="0" t="6355"/>
          <a:stretch/>
        </p:blipFill>
        <p:spPr>
          <a:xfrm>
            <a:off x="6820413" y="2958825"/>
            <a:ext cx="1115700" cy="1118100"/>
          </a:xfrm>
          <a:prstGeom prst="roundRect">
            <a:avLst>
              <a:gd fmla="val 16667" name="adj"/>
            </a:avLst>
          </a:prstGeom>
        </p:spPr>
      </p:pic>
      <p:sp>
        <p:nvSpPr>
          <p:cNvPr id="462" name="Google Shape;462;p48"/>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pic>
        <p:nvPicPr>
          <p:cNvPr descr="A man listens to music on his headphones while standing outdoors. " id="463" name="Google Shape;463;p48"/>
          <p:cNvPicPr preferRelativeResize="0"/>
          <p:nvPr>
            <p:ph idx="20" type="pic"/>
          </p:nvPr>
        </p:nvPicPr>
        <p:blipFill rotWithShape="1">
          <a:blip r:embed="rId10">
            <a:alphaModFix/>
          </a:blip>
          <a:srcRect b="0" l="30843" r="13862" t="16985"/>
          <a:stretch/>
        </p:blipFill>
        <p:spPr>
          <a:xfrm>
            <a:off x="1208550" y="2958825"/>
            <a:ext cx="1115700" cy="1118100"/>
          </a:xfrm>
          <a:prstGeom prst="roundRect">
            <a:avLst>
              <a:gd fmla="val 16667" name="adj"/>
            </a:avLst>
          </a:prstGeom>
        </p:spPr>
      </p:pic>
      <p:sp>
        <p:nvSpPr>
          <p:cNvPr id="464" name="Google Shape;464;p48"/>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65" name="Google Shape;465;p48"/>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66" name="Google Shape;466;p48"/>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67" name="Google Shape;467;p48"/>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68" name="Google Shape;468;p48"/>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69" name="Google Shape;469;p48"/>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70" name="Google Shape;470;p48"/>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grpSp>
        <p:nvGrpSpPr>
          <p:cNvPr id="471" name="Google Shape;471;p48"/>
          <p:cNvGrpSpPr/>
          <p:nvPr/>
        </p:nvGrpSpPr>
        <p:grpSpPr>
          <a:xfrm>
            <a:off x="3042713" y="380063"/>
            <a:ext cx="543525" cy="265250"/>
            <a:chOff x="3195113" y="380063"/>
            <a:chExt cx="543525" cy="265250"/>
          </a:xfrm>
        </p:grpSpPr>
        <p:cxnSp>
          <p:nvCxnSpPr>
            <p:cNvPr id="472" name="Google Shape;472;p48"/>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473" name="Google Shape;473;p48"/>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474" name="Google Shape;474;p48"/>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475" name="Google Shape;475;p4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descr="a close up of a dragon 's eye with blue light coming out of it (Provided by Tenor)" id="476" name="Google Shape;476;p48"/>
          <p:cNvPicPr preferRelativeResize="0"/>
          <p:nvPr/>
        </p:nvPicPr>
        <p:blipFill>
          <a:blip r:embed="rId11">
            <a:alphaModFix/>
          </a:blip>
          <a:stretch>
            <a:fillRect/>
          </a:stretch>
        </p:blipFill>
        <p:spPr>
          <a:xfrm>
            <a:off x="-72475" y="-70350"/>
            <a:ext cx="9444050" cy="5253016"/>
          </a:xfrm>
          <a:prstGeom prst="rect">
            <a:avLst/>
          </a:prstGeom>
          <a:noFill/>
          <a:ln>
            <a:noFill/>
          </a:ln>
        </p:spPr>
      </p:pic>
      <p:sp>
        <p:nvSpPr>
          <p:cNvPr id="477" name="Google Shape;477;p48"/>
          <p:cNvSpPr txBox="1"/>
          <p:nvPr/>
        </p:nvSpPr>
        <p:spPr>
          <a:xfrm>
            <a:off x="1502700" y="437025"/>
            <a:ext cx="6138600" cy="72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800">
                <a:solidFill>
                  <a:schemeClr val="dk1"/>
                </a:solidFill>
                <a:latin typeface="Nunito Sans"/>
                <a:ea typeface="Nunito Sans"/>
                <a:cs typeface="Nunito Sans"/>
                <a:sym typeface="Nunito Sans"/>
              </a:rPr>
              <a:t>THE DRAGON</a:t>
            </a:r>
            <a:endParaRPr b="1" sz="4800">
              <a:solidFill>
                <a:schemeClr val="dk1"/>
              </a:solidFill>
              <a:latin typeface="Nunito Sans"/>
              <a:ea typeface="Nunito Sans"/>
              <a:cs typeface="Nunito Sans"/>
              <a:sym typeface="Nunito Sans"/>
            </a:endParaRPr>
          </a:p>
        </p:txBody>
      </p:sp>
      <p:sp>
        <p:nvSpPr>
          <p:cNvPr id="478" name="Google Shape;478;p48"/>
          <p:cNvSpPr txBox="1"/>
          <p:nvPr/>
        </p:nvSpPr>
        <p:spPr>
          <a:xfrm>
            <a:off x="1502700" y="1801500"/>
            <a:ext cx="6138600" cy="203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Nunito Sans"/>
                <a:ea typeface="Nunito Sans"/>
                <a:cs typeface="Nunito Sans"/>
                <a:sym typeface="Nunito Sans"/>
              </a:rPr>
              <a:t>Dragons are </a:t>
            </a:r>
            <a:r>
              <a:rPr b="1" lang="en" sz="2400">
                <a:solidFill>
                  <a:schemeClr val="dk1"/>
                </a:solidFill>
                <a:latin typeface="Nunito Sans"/>
                <a:ea typeface="Nunito Sans"/>
                <a:cs typeface="Nunito Sans"/>
                <a:sym typeface="Nunito Sans"/>
              </a:rPr>
              <a:t>mythical</a:t>
            </a:r>
            <a:r>
              <a:rPr b="1" lang="en" sz="2400">
                <a:solidFill>
                  <a:schemeClr val="dk1"/>
                </a:solidFill>
                <a:latin typeface="Nunito Sans"/>
                <a:ea typeface="Nunito Sans"/>
                <a:cs typeface="Nunito Sans"/>
                <a:sym typeface="Nunito Sans"/>
              </a:rPr>
              <a:t> creatures that are very unique. </a:t>
            </a:r>
            <a:r>
              <a:rPr b="1" lang="en" sz="2400">
                <a:solidFill>
                  <a:schemeClr val="dk1"/>
                </a:solidFill>
                <a:latin typeface="Nunito Sans"/>
                <a:ea typeface="Nunito Sans"/>
                <a:cs typeface="Nunito Sans"/>
                <a:sym typeface="Nunito Sans"/>
              </a:rPr>
              <a:t>They</a:t>
            </a:r>
            <a:r>
              <a:rPr b="1" lang="en" sz="2400">
                <a:solidFill>
                  <a:schemeClr val="dk1"/>
                </a:solidFill>
                <a:latin typeface="Nunito Sans"/>
                <a:ea typeface="Nunito Sans"/>
                <a:cs typeface="Nunito Sans"/>
                <a:sym typeface="Nunito Sans"/>
              </a:rPr>
              <a:t> have scales that can be any design, they have a very large wingspan, and they show extreme bravery and fighting skills.</a:t>
            </a:r>
            <a:endParaRPr b="1" sz="2400">
              <a:solidFill>
                <a:schemeClr val="dk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9"/>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pic>
        <p:nvPicPr>
          <p:cNvPr descr="A portrait of a woman. " id="484" name="Google Shape;484;p49"/>
          <p:cNvPicPr preferRelativeResize="0"/>
          <p:nvPr>
            <p:ph idx="3" type="pic"/>
          </p:nvPr>
        </p:nvPicPr>
        <p:blipFill rotWithShape="1">
          <a:blip r:embed="rId3">
            <a:alphaModFix/>
          </a:blip>
          <a:srcRect b="32563" l="48300" r="8342" t="2724"/>
          <a:stretch/>
        </p:blipFill>
        <p:spPr>
          <a:xfrm>
            <a:off x="988450" y="2967538"/>
            <a:ext cx="1264200" cy="1258500"/>
          </a:xfrm>
          <a:prstGeom prst="roundRect">
            <a:avLst>
              <a:gd fmla="val 16667" name="adj"/>
            </a:avLst>
          </a:prstGeom>
        </p:spPr>
      </p:pic>
      <p:sp>
        <p:nvSpPr>
          <p:cNvPr id="485" name="Google Shape;485;p49"/>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86" name="Google Shape;486;p49"/>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87" name="Google Shape;487;p49"/>
          <p:cNvSpPr txBox="1"/>
          <p:nvPr>
            <p:ph idx="6" type="body"/>
          </p:nvPr>
        </p:nvSpPr>
        <p:spPr>
          <a:xfrm>
            <a:off x="2409443" y="34593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a:t>
            </a:r>
            <a:endParaRPr/>
          </a:p>
        </p:txBody>
      </p:sp>
      <p:pic>
        <p:nvPicPr>
          <p:cNvPr descr="A portrait of a man with his arms crossed. " id="488" name="Google Shape;488;p49"/>
          <p:cNvPicPr preferRelativeResize="0"/>
          <p:nvPr>
            <p:ph idx="7" type="pic"/>
          </p:nvPr>
        </p:nvPicPr>
        <p:blipFill rotWithShape="1">
          <a:blip r:embed="rId4">
            <a:alphaModFix/>
          </a:blip>
          <a:srcRect b="20767" l="26881" r="20069" t="0"/>
          <a:stretch/>
        </p:blipFill>
        <p:spPr>
          <a:xfrm>
            <a:off x="4685500" y="1169975"/>
            <a:ext cx="1264200" cy="1258500"/>
          </a:xfrm>
          <a:prstGeom prst="roundRect">
            <a:avLst>
              <a:gd fmla="val 16667" name="adj"/>
            </a:avLst>
          </a:prstGeom>
        </p:spPr>
      </p:pic>
      <p:sp>
        <p:nvSpPr>
          <p:cNvPr id="489" name="Google Shape;489;p49"/>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90" name="Google Shape;490;p49"/>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91" name="Google Shape;491;p49"/>
          <p:cNvSpPr txBox="1"/>
          <p:nvPr>
            <p:ph idx="1" type="body"/>
          </p:nvPr>
        </p:nvSpPr>
        <p:spPr>
          <a:xfrm>
            <a:off x="6111068" y="1661825"/>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a:t>
            </a:r>
            <a:endParaRPr/>
          </a:p>
        </p:txBody>
      </p:sp>
      <p:pic>
        <p:nvPicPr>
          <p:cNvPr descr="A businesswoman looks at the camera while resting her chin on her hand. " id="492" name="Google Shape;492;p49"/>
          <p:cNvPicPr preferRelativeResize="0"/>
          <p:nvPr>
            <p:ph idx="13" type="pic"/>
          </p:nvPr>
        </p:nvPicPr>
        <p:blipFill rotWithShape="1">
          <a:blip r:embed="rId5">
            <a:alphaModFix/>
          </a:blip>
          <a:srcRect b="0" l="32998" r="0" t="0"/>
          <a:stretch/>
        </p:blipFill>
        <p:spPr>
          <a:xfrm>
            <a:off x="4685500" y="2967538"/>
            <a:ext cx="1264200" cy="1258500"/>
          </a:xfrm>
          <a:prstGeom prst="roundRect">
            <a:avLst>
              <a:gd fmla="val 16667" name="adj"/>
            </a:avLst>
          </a:prstGeom>
        </p:spPr>
      </p:pic>
      <p:sp>
        <p:nvSpPr>
          <p:cNvPr id="493" name="Google Shape;493;p49"/>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94" name="Google Shape;494;p49"/>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95" name="Google Shape;495;p49"/>
          <p:cNvSpPr txBox="1"/>
          <p:nvPr>
            <p:ph idx="16" type="body"/>
          </p:nvPr>
        </p:nvSpPr>
        <p:spPr>
          <a:xfrm>
            <a:off x="6111068" y="34593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a:t>
            </a:r>
            <a:endParaRPr/>
          </a:p>
        </p:txBody>
      </p:sp>
      <p:pic>
        <p:nvPicPr>
          <p:cNvPr descr="A woman looks at the camera and smiles while resting her face on her hand. " id="496" name="Google Shape;496;p49"/>
          <p:cNvPicPr preferRelativeResize="0"/>
          <p:nvPr>
            <p:ph idx="17" type="pic"/>
          </p:nvPr>
        </p:nvPicPr>
        <p:blipFill rotWithShape="1">
          <a:blip r:embed="rId6">
            <a:alphaModFix/>
          </a:blip>
          <a:srcRect b="0" l="16524" r="16524" t="0"/>
          <a:stretch/>
        </p:blipFill>
        <p:spPr>
          <a:xfrm>
            <a:off x="988450" y="1169975"/>
            <a:ext cx="1264200" cy="1258500"/>
          </a:xfrm>
          <a:prstGeom prst="roundRect">
            <a:avLst>
              <a:gd fmla="val 16667" name="adj"/>
            </a:avLst>
          </a:prstGeom>
        </p:spPr>
      </p:pic>
      <p:sp>
        <p:nvSpPr>
          <p:cNvPr id="497" name="Google Shape;497;p49"/>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98" name="Google Shape;498;p49"/>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99" name="Google Shape;499;p49"/>
          <p:cNvSpPr txBox="1"/>
          <p:nvPr>
            <p:ph idx="2" type="body"/>
          </p:nvPr>
        </p:nvSpPr>
        <p:spPr>
          <a:xfrm>
            <a:off x="2409443" y="1661825"/>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 </a:t>
            </a:r>
            <a:endParaRPr/>
          </a:p>
        </p:txBody>
      </p:sp>
      <p:grpSp>
        <p:nvGrpSpPr>
          <p:cNvPr id="500" name="Google Shape;500;p49"/>
          <p:cNvGrpSpPr/>
          <p:nvPr/>
        </p:nvGrpSpPr>
        <p:grpSpPr>
          <a:xfrm>
            <a:off x="3042713" y="380063"/>
            <a:ext cx="543525" cy="265250"/>
            <a:chOff x="3195113" y="380063"/>
            <a:chExt cx="543525" cy="265250"/>
          </a:xfrm>
        </p:grpSpPr>
        <p:cxnSp>
          <p:nvCxnSpPr>
            <p:cNvPr id="501" name="Google Shape;501;p49"/>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02" name="Google Shape;502;p49"/>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03" name="Google Shape;503;p49"/>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504" name="Google Shape;504;p49"/>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descr="Fairy Elf Fantasy Forest Free Stock Photo - Public Domain Pictures" id="505" name="Google Shape;505;p49"/>
          <p:cNvPicPr preferRelativeResize="0"/>
          <p:nvPr/>
        </p:nvPicPr>
        <p:blipFill>
          <a:blip r:embed="rId7">
            <a:alphaModFix/>
          </a:blip>
          <a:stretch>
            <a:fillRect/>
          </a:stretch>
        </p:blipFill>
        <p:spPr>
          <a:xfrm>
            <a:off x="-349550" y="-102300"/>
            <a:ext cx="5245799" cy="5245799"/>
          </a:xfrm>
          <a:prstGeom prst="rect">
            <a:avLst/>
          </a:prstGeom>
          <a:noFill/>
          <a:ln>
            <a:noFill/>
          </a:ln>
        </p:spPr>
      </p:pic>
      <p:pic>
        <p:nvPicPr>
          <p:cNvPr descr="Christmas Fairy Fantasy Free Stock Photo - Public Domain Pictures" id="506" name="Google Shape;506;p49"/>
          <p:cNvPicPr preferRelativeResize="0"/>
          <p:nvPr/>
        </p:nvPicPr>
        <p:blipFill>
          <a:blip r:embed="rId8">
            <a:alphaModFix/>
          </a:blip>
          <a:stretch>
            <a:fillRect/>
          </a:stretch>
        </p:blipFill>
        <p:spPr>
          <a:xfrm>
            <a:off x="4222450" y="-102300"/>
            <a:ext cx="5094200" cy="5245799"/>
          </a:xfrm>
          <a:prstGeom prst="rect">
            <a:avLst/>
          </a:prstGeom>
          <a:noFill/>
          <a:ln>
            <a:noFill/>
          </a:ln>
        </p:spPr>
      </p:pic>
      <p:sp>
        <p:nvSpPr>
          <p:cNvPr id="507" name="Google Shape;507;p49"/>
          <p:cNvSpPr txBox="1"/>
          <p:nvPr/>
        </p:nvSpPr>
        <p:spPr>
          <a:xfrm>
            <a:off x="1803225" y="645325"/>
            <a:ext cx="6138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chemeClr val="dk1"/>
                </a:solidFill>
                <a:latin typeface="Nunito Sans"/>
                <a:ea typeface="Nunito Sans"/>
                <a:cs typeface="Nunito Sans"/>
                <a:sym typeface="Nunito Sans"/>
              </a:rPr>
              <a:t>              THE PIXIE</a:t>
            </a:r>
            <a:endParaRPr sz="3400">
              <a:solidFill>
                <a:schemeClr val="dk1"/>
              </a:solidFill>
              <a:latin typeface="Nunito Sans"/>
              <a:ea typeface="Nunito Sans"/>
              <a:cs typeface="Nunito Sans"/>
              <a:sym typeface="Nunito Sans"/>
            </a:endParaRPr>
          </a:p>
        </p:txBody>
      </p:sp>
      <p:sp>
        <p:nvSpPr>
          <p:cNvPr id="508" name="Google Shape;508;p49"/>
          <p:cNvSpPr txBox="1"/>
          <p:nvPr/>
        </p:nvSpPr>
        <p:spPr>
          <a:xfrm>
            <a:off x="2847650" y="3830250"/>
            <a:ext cx="613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Nunito Sans"/>
              <a:ea typeface="Nunito Sans"/>
              <a:cs typeface="Nunito Sans"/>
              <a:sym typeface="Nunito Sans"/>
            </a:endParaRPr>
          </a:p>
        </p:txBody>
      </p:sp>
      <p:sp>
        <p:nvSpPr>
          <p:cNvPr id="509" name="Google Shape;509;p49"/>
          <p:cNvSpPr txBox="1"/>
          <p:nvPr/>
        </p:nvSpPr>
        <p:spPr>
          <a:xfrm>
            <a:off x="1490475" y="3613425"/>
            <a:ext cx="6764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Pixies are very </a:t>
            </a:r>
            <a:r>
              <a:rPr lang="en" sz="1200">
                <a:solidFill>
                  <a:schemeClr val="dk1"/>
                </a:solidFill>
                <a:latin typeface="Nunito Sans"/>
                <a:ea typeface="Nunito Sans"/>
                <a:cs typeface="Nunito Sans"/>
                <a:sym typeface="Nunito Sans"/>
              </a:rPr>
              <a:t>magical</a:t>
            </a:r>
            <a:r>
              <a:rPr lang="en" sz="1200">
                <a:solidFill>
                  <a:schemeClr val="dk1"/>
                </a:solidFill>
                <a:latin typeface="Nunito Sans"/>
                <a:ea typeface="Nunito Sans"/>
                <a:cs typeface="Nunito Sans"/>
                <a:sym typeface="Nunito Sans"/>
              </a:rPr>
              <a:t> creatures. They have beautiful wings that help them fly. They are very attractive and very beautiful. They sometimes have magical pixie dust to do spells and </a:t>
            </a:r>
            <a:r>
              <a:rPr lang="en" sz="1200">
                <a:solidFill>
                  <a:schemeClr val="dk1"/>
                </a:solidFill>
                <a:latin typeface="Nunito Sans"/>
                <a:ea typeface="Nunito Sans"/>
                <a:cs typeface="Nunito Sans"/>
                <a:sym typeface="Nunito Sans"/>
              </a:rPr>
              <a:t>other</a:t>
            </a:r>
            <a:r>
              <a:rPr lang="en" sz="1200">
                <a:solidFill>
                  <a:schemeClr val="dk1"/>
                </a:solidFill>
                <a:latin typeface="Nunito Sans"/>
                <a:ea typeface="Nunito Sans"/>
                <a:cs typeface="Nunito Sans"/>
                <a:sym typeface="Nunito Sans"/>
              </a:rPr>
              <a:t> things. They usually hide out in the deep parts of the forest. They also wear very pretty and designed dresses.</a:t>
            </a:r>
            <a:endParaRPr sz="1200">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300"/>
              <a:t>Write a brief, inspiring summary of the campaign. Get your audience excited about it. For now, focus on the big picture. You can dive into more detail later. </a:t>
            </a:r>
            <a:endParaRPr sz="2300"/>
          </a:p>
        </p:txBody>
      </p:sp>
      <p:sp>
        <p:nvSpPr>
          <p:cNvPr id="515" name="Google Shape;515;p50"/>
          <p:cNvSpPr/>
          <p:nvPr/>
        </p:nvSpPr>
        <p:spPr>
          <a:xfrm>
            <a:off x="3551400" y="1131875"/>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oppins SemiBold"/>
                <a:ea typeface="Poppins SemiBold"/>
                <a:cs typeface="Poppins SemiBold"/>
                <a:sym typeface="Poppins SemiBold"/>
              </a:rPr>
              <a:t>CAMPAIGN OVERVIEW</a:t>
            </a:r>
            <a:endParaRPr sz="1000">
              <a:solidFill>
                <a:schemeClr val="dk1"/>
              </a:solidFill>
              <a:latin typeface="Poppins SemiBold"/>
              <a:ea typeface="Poppins SemiBold"/>
              <a:cs typeface="Poppins SemiBold"/>
              <a:sym typeface="Poppins SemiBold"/>
            </a:endParaRPr>
          </a:p>
        </p:txBody>
      </p:sp>
      <p:sp>
        <p:nvSpPr>
          <p:cNvPr id="516" name="Google Shape;516;p50"/>
          <p:cNvSpPr txBox="1"/>
          <p:nvPr>
            <p:ph idx="4294967295" type="subTitle"/>
          </p:nvPr>
        </p:nvSpPr>
        <p:spPr>
          <a:xfrm>
            <a:off x="228600" y="4800275"/>
            <a:ext cx="13911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00"/>
              <a:t>Confidential</a:t>
            </a:r>
            <a:endParaRPr sz="700"/>
          </a:p>
        </p:txBody>
      </p:sp>
      <p:pic>
        <p:nvPicPr>
          <p:cNvPr descr="Young beautiful female elf walking through the forest with a book and a lantern (Provided by Getty Images)" id="517" name="Google Shape;517;p50"/>
          <p:cNvPicPr preferRelativeResize="0"/>
          <p:nvPr/>
        </p:nvPicPr>
        <p:blipFill>
          <a:blip r:embed="rId3">
            <a:alphaModFix/>
          </a:blip>
          <a:stretch>
            <a:fillRect/>
          </a:stretch>
        </p:blipFill>
        <p:spPr>
          <a:xfrm>
            <a:off x="5757101" y="0"/>
            <a:ext cx="3652901" cy="5143501"/>
          </a:xfrm>
          <a:prstGeom prst="rect">
            <a:avLst/>
          </a:prstGeom>
          <a:noFill/>
          <a:ln>
            <a:noFill/>
          </a:ln>
        </p:spPr>
      </p:pic>
      <p:pic>
        <p:nvPicPr>
          <p:cNvPr descr="young and beautiful woman elf posing at camera (Provided by Getty Images)" id="518" name="Google Shape;518;p50"/>
          <p:cNvPicPr preferRelativeResize="0"/>
          <p:nvPr/>
        </p:nvPicPr>
        <p:blipFill>
          <a:blip r:embed="rId4">
            <a:alphaModFix/>
          </a:blip>
          <a:stretch>
            <a:fillRect/>
          </a:stretch>
        </p:blipFill>
        <p:spPr>
          <a:xfrm>
            <a:off x="2856663" y="0"/>
            <a:ext cx="3430675" cy="5143501"/>
          </a:xfrm>
          <a:prstGeom prst="rect">
            <a:avLst/>
          </a:prstGeom>
          <a:noFill/>
          <a:ln>
            <a:noFill/>
          </a:ln>
        </p:spPr>
      </p:pic>
      <p:pic>
        <p:nvPicPr>
          <p:cNvPr descr="Young beautiful female elf walking through the forest with a book and a lantern (Provided by Getty Images)" id="519" name="Google Shape;519;p50"/>
          <p:cNvPicPr preferRelativeResize="0"/>
          <p:nvPr/>
        </p:nvPicPr>
        <p:blipFill>
          <a:blip r:embed="rId3">
            <a:alphaModFix/>
          </a:blip>
          <a:stretch>
            <a:fillRect/>
          </a:stretch>
        </p:blipFill>
        <p:spPr>
          <a:xfrm>
            <a:off x="-33739" y="0"/>
            <a:ext cx="3420629" cy="5143501"/>
          </a:xfrm>
          <a:prstGeom prst="rect">
            <a:avLst/>
          </a:prstGeom>
          <a:noFill/>
          <a:ln>
            <a:noFill/>
          </a:ln>
        </p:spPr>
      </p:pic>
      <p:sp>
        <p:nvSpPr>
          <p:cNvPr id="520" name="Google Shape;520;p50"/>
          <p:cNvSpPr txBox="1"/>
          <p:nvPr/>
        </p:nvSpPr>
        <p:spPr>
          <a:xfrm>
            <a:off x="2732550" y="377275"/>
            <a:ext cx="6138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chemeClr val="dk1"/>
                </a:solidFill>
                <a:latin typeface="Nunito Sans"/>
                <a:ea typeface="Nunito Sans"/>
                <a:cs typeface="Nunito Sans"/>
                <a:sym typeface="Nunito Sans"/>
              </a:rPr>
              <a:t>         THE ELF</a:t>
            </a:r>
            <a:endParaRPr sz="3400">
              <a:solidFill>
                <a:schemeClr val="dk1"/>
              </a:solidFill>
              <a:latin typeface="Nunito Sans"/>
              <a:ea typeface="Nunito Sans"/>
              <a:cs typeface="Nunito Sans"/>
              <a:sym typeface="Nunito Sans"/>
            </a:endParaRPr>
          </a:p>
        </p:txBody>
      </p:sp>
      <p:sp>
        <p:nvSpPr>
          <p:cNvPr id="521" name="Google Shape;521;p50"/>
          <p:cNvSpPr txBox="1"/>
          <p:nvPr/>
        </p:nvSpPr>
        <p:spPr>
          <a:xfrm>
            <a:off x="1869500" y="3351500"/>
            <a:ext cx="6764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Elves are also very unique. They can be boys or girls. They have very pointy ears, which is a unique part of </a:t>
            </a:r>
            <a:r>
              <a:rPr lang="en" sz="1200">
                <a:solidFill>
                  <a:schemeClr val="dk1"/>
                </a:solidFill>
                <a:latin typeface="Nunito Sans"/>
                <a:ea typeface="Nunito Sans"/>
                <a:cs typeface="Nunito Sans"/>
                <a:sym typeface="Nunito Sans"/>
              </a:rPr>
              <a:t>them that</a:t>
            </a:r>
            <a:r>
              <a:rPr lang="en" sz="1200">
                <a:solidFill>
                  <a:schemeClr val="dk1"/>
                </a:solidFill>
                <a:latin typeface="Nunito Sans"/>
                <a:ea typeface="Nunito Sans"/>
                <a:cs typeface="Nunito Sans"/>
                <a:sym typeface="Nunito Sans"/>
              </a:rPr>
              <a:t> most mythical creatures don’t have. They sometimes wear special headbands and wear special clothing. They hang out in deep parts of the forest and carry lanterns with them. </a:t>
            </a:r>
            <a:endParaRPr sz="1200">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526" name="Shape 526"/>
        <p:cNvGrpSpPr/>
        <p:nvPr/>
      </p:nvGrpSpPr>
      <p:grpSpPr>
        <a:xfrm>
          <a:off x="0" y="0"/>
          <a:ext cx="0" cy="0"/>
          <a:chOff x="0" y="0"/>
          <a:chExt cx="0" cy="0"/>
        </a:xfrm>
      </p:grpSpPr>
      <p:sp>
        <p:nvSpPr>
          <p:cNvPr id="527" name="Google Shape;527;p51"/>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51"/>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01</a:t>
            </a:r>
            <a:endParaRPr sz="1800">
              <a:solidFill>
                <a:schemeClr val="dk1"/>
              </a:solidFill>
              <a:latin typeface="Calibri"/>
              <a:ea typeface="Calibri"/>
              <a:cs typeface="Calibri"/>
              <a:sym typeface="Calibri"/>
            </a:endParaRPr>
          </a:p>
        </p:txBody>
      </p:sp>
      <p:pic>
        <p:nvPicPr>
          <p:cNvPr descr="Gloomy Forest Background Free Stock Photo - Public Domain Pictures" id="529" name="Google Shape;529;p51"/>
          <p:cNvPicPr preferRelativeResize="0"/>
          <p:nvPr/>
        </p:nvPicPr>
        <p:blipFill>
          <a:blip r:embed="rId3">
            <a:alphaModFix/>
          </a:blip>
          <a:stretch>
            <a:fillRect/>
          </a:stretch>
        </p:blipFill>
        <p:spPr>
          <a:xfrm>
            <a:off x="0" y="0"/>
            <a:ext cx="9144000" cy="5143500"/>
          </a:xfrm>
          <a:prstGeom prst="rect">
            <a:avLst/>
          </a:prstGeom>
          <a:noFill/>
          <a:ln>
            <a:noFill/>
          </a:ln>
        </p:spPr>
      </p:pic>
      <p:sp>
        <p:nvSpPr>
          <p:cNvPr id="530" name="Google Shape;530;p51"/>
          <p:cNvSpPr txBox="1"/>
          <p:nvPr/>
        </p:nvSpPr>
        <p:spPr>
          <a:xfrm>
            <a:off x="1047475" y="1613500"/>
            <a:ext cx="67641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600">
                <a:solidFill>
                  <a:schemeClr val="dk1"/>
                </a:solidFill>
                <a:latin typeface="Nunito Sans"/>
                <a:ea typeface="Nunito Sans"/>
                <a:cs typeface="Nunito Sans"/>
                <a:sym typeface="Nunito Sans"/>
              </a:rPr>
              <a:t>          TECH STACK</a:t>
            </a:r>
            <a:endParaRPr sz="4600">
              <a:solidFill>
                <a:schemeClr val="dk1"/>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5" name="Shape 535"/>
        <p:cNvGrpSpPr/>
        <p:nvPr/>
      </p:nvGrpSpPr>
      <p:grpSpPr>
        <a:xfrm>
          <a:off x="0" y="0"/>
          <a:ext cx="0" cy="0"/>
          <a:chOff x="0" y="0"/>
          <a:chExt cx="0" cy="0"/>
        </a:xfrm>
      </p:grpSpPr>
      <p:sp>
        <p:nvSpPr>
          <p:cNvPr id="536" name="Google Shape;536;p52"/>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The Three Tools We Used</a:t>
            </a:r>
            <a:endParaRPr sz="2800">
              <a:solidFill>
                <a:schemeClr val="dk1"/>
              </a:solidFill>
              <a:latin typeface="Calibri"/>
              <a:ea typeface="Calibri"/>
              <a:cs typeface="Calibri"/>
              <a:sym typeface="Calibri"/>
            </a:endParaRPr>
          </a:p>
        </p:txBody>
      </p:sp>
      <p:sp>
        <p:nvSpPr>
          <p:cNvPr id="537" name="Google Shape;537;p52"/>
          <p:cNvSpPr/>
          <p:nvPr/>
        </p:nvSpPr>
        <p:spPr>
          <a:xfrm>
            <a:off x="457200" y="832345"/>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Every website on Earth uses these three things</a:t>
            </a:r>
            <a:endParaRPr sz="1600">
              <a:solidFill>
                <a:schemeClr val="dk1"/>
              </a:solidFill>
              <a:latin typeface="Calibri"/>
              <a:ea typeface="Calibri"/>
              <a:cs typeface="Calibri"/>
              <a:sym typeface="Calibri"/>
            </a:endParaRPr>
          </a:p>
        </p:txBody>
      </p:sp>
      <p:sp>
        <p:nvSpPr>
          <p:cNvPr id="538" name="Google Shape;538;p52"/>
          <p:cNvSpPr/>
          <p:nvPr/>
        </p:nvSpPr>
        <p:spPr>
          <a:xfrm>
            <a:off x="274320" y="1325880"/>
            <a:ext cx="2743200" cy="338328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52"/>
          <p:cNvSpPr/>
          <p:nvPr/>
        </p:nvSpPr>
        <p:spPr>
          <a:xfrm>
            <a:off x="438912" y="1463040"/>
            <a:ext cx="241401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HTML5</a:t>
            </a:r>
            <a:endParaRPr sz="1400">
              <a:solidFill>
                <a:schemeClr val="dk1"/>
              </a:solidFill>
              <a:latin typeface="Calibri"/>
              <a:ea typeface="Calibri"/>
              <a:cs typeface="Calibri"/>
              <a:sym typeface="Calibri"/>
            </a:endParaRPr>
          </a:p>
        </p:txBody>
      </p:sp>
      <p:sp>
        <p:nvSpPr>
          <p:cNvPr id="540" name="Google Shape;540;p52"/>
          <p:cNvSpPr/>
          <p:nvPr/>
        </p:nvSpPr>
        <p:spPr>
          <a:xfrm>
            <a:off x="438912" y="1874520"/>
            <a:ext cx="2414016"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The skeleton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Sets up every page,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headings, links,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buttons &amp; images.</a:t>
            </a:r>
            <a:endParaRPr sz="1200">
              <a:solidFill>
                <a:schemeClr val="dk1"/>
              </a:solidFill>
              <a:latin typeface="Calibri"/>
              <a:ea typeface="Calibri"/>
              <a:cs typeface="Calibri"/>
              <a:sym typeface="Calibri"/>
            </a:endParaRPr>
          </a:p>
        </p:txBody>
      </p:sp>
      <p:sp>
        <p:nvSpPr>
          <p:cNvPr id="541" name="Google Shape;541;p52"/>
          <p:cNvSpPr/>
          <p:nvPr/>
        </p:nvSpPr>
        <p:spPr>
          <a:xfrm>
            <a:off x="3200400" y="1325880"/>
            <a:ext cx="2743200" cy="338328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52"/>
          <p:cNvSpPr/>
          <p:nvPr/>
        </p:nvSpPr>
        <p:spPr>
          <a:xfrm>
            <a:off x="3364992" y="1463040"/>
            <a:ext cx="241401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CSS3</a:t>
            </a:r>
            <a:endParaRPr sz="1400">
              <a:solidFill>
                <a:schemeClr val="dk1"/>
              </a:solidFill>
              <a:latin typeface="Calibri"/>
              <a:ea typeface="Calibri"/>
              <a:cs typeface="Calibri"/>
              <a:sym typeface="Calibri"/>
            </a:endParaRPr>
          </a:p>
        </p:txBody>
      </p:sp>
      <p:sp>
        <p:nvSpPr>
          <p:cNvPr id="543" name="Google Shape;543;p52"/>
          <p:cNvSpPr/>
          <p:nvPr/>
        </p:nvSpPr>
        <p:spPr>
          <a:xfrm>
            <a:off x="3364992" y="1874520"/>
            <a:ext cx="2414016"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The clothes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Colors, animations,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layout, fancy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glass effects!</a:t>
            </a:r>
            <a:endParaRPr sz="1200">
              <a:solidFill>
                <a:schemeClr val="dk1"/>
              </a:solidFill>
              <a:latin typeface="Calibri"/>
              <a:ea typeface="Calibri"/>
              <a:cs typeface="Calibri"/>
              <a:sym typeface="Calibri"/>
            </a:endParaRPr>
          </a:p>
        </p:txBody>
      </p:sp>
      <p:sp>
        <p:nvSpPr>
          <p:cNvPr id="544" name="Google Shape;544;p52"/>
          <p:cNvSpPr/>
          <p:nvPr/>
        </p:nvSpPr>
        <p:spPr>
          <a:xfrm>
            <a:off x="6126480" y="1325880"/>
            <a:ext cx="2743200" cy="338328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52"/>
          <p:cNvSpPr/>
          <p:nvPr/>
        </p:nvSpPr>
        <p:spPr>
          <a:xfrm>
            <a:off x="6291072" y="1463040"/>
            <a:ext cx="241401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JavaScript</a:t>
            </a:r>
            <a:endParaRPr sz="1400">
              <a:solidFill>
                <a:schemeClr val="dk1"/>
              </a:solidFill>
              <a:latin typeface="Calibri"/>
              <a:ea typeface="Calibri"/>
              <a:cs typeface="Calibri"/>
              <a:sym typeface="Calibri"/>
            </a:endParaRPr>
          </a:p>
        </p:txBody>
      </p:sp>
      <p:sp>
        <p:nvSpPr>
          <p:cNvPr id="546" name="Google Shape;546;p52"/>
          <p:cNvSpPr/>
          <p:nvPr/>
        </p:nvSpPr>
        <p:spPr>
          <a:xfrm>
            <a:off x="6291072" y="1874520"/>
            <a:ext cx="2414016"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The brain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Makes things move,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tracks scores &amp;</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plays sounds.</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1" name="Shape 551"/>
        <p:cNvGrpSpPr/>
        <p:nvPr/>
      </p:nvGrpSpPr>
      <p:grpSpPr>
        <a:xfrm>
          <a:off x="0" y="0"/>
          <a:ext cx="0" cy="0"/>
          <a:chOff x="0" y="0"/>
          <a:chExt cx="0" cy="0"/>
        </a:xfrm>
      </p:grpSpPr>
      <p:sp>
        <p:nvSpPr>
          <p:cNvPr id="552" name="Google Shape;552;p53"/>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GitHub &amp; GitHub Pages</a:t>
            </a:r>
            <a:endParaRPr sz="2800">
              <a:solidFill>
                <a:schemeClr val="dk1"/>
              </a:solidFill>
              <a:latin typeface="Calibri"/>
              <a:ea typeface="Calibri"/>
              <a:cs typeface="Calibri"/>
              <a:sym typeface="Calibri"/>
            </a:endParaRPr>
          </a:p>
        </p:txBody>
      </p:sp>
      <p:sp>
        <p:nvSpPr>
          <p:cNvPr id="553" name="Google Shape;553;p53"/>
          <p:cNvSpPr/>
          <p:nvPr/>
        </p:nvSpPr>
        <p:spPr>
          <a:xfrm>
            <a:off x="457200" y="928670"/>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How we saved our work and put it on the internet</a:t>
            </a:r>
            <a:endParaRPr sz="1600">
              <a:solidFill>
                <a:schemeClr val="dk1"/>
              </a:solidFill>
              <a:latin typeface="Calibri"/>
              <a:ea typeface="Calibri"/>
              <a:cs typeface="Calibri"/>
              <a:sym typeface="Calibri"/>
            </a:endParaRPr>
          </a:p>
        </p:txBody>
      </p:sp>
      <p:sp>
        <p:nvSpPr>
          <p:cNvPr id="554" name="Google Shape;554;p53"/>
          <p:cNvSpPr/>
          <p:nvPr/>
        </p:nvSpPr>
        <p:spPr>
          <a:xfrm>
            <a:off x="365760" y="141732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GitHub is like Google Docs but for code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Every time we saved a new version it's called a commit</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122 commits in this project: that's a LOT of saves!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Git tracks who changed what and when</a:t>
            </a:r>
            <a:endParaRPr sz="1400">
              <a:solidFill>
                <a:schemeClr val="dk1"/>
              </a:solidFill>
              <a:latin typeface="Calibri"/>
              <a:ea typeface="Calibri"/>
              <a:cs typeface="Calibri"/>
              <a:sym typeface="Calibri"/>
            </a:endParaRPr>
          </a:p>
        </p:txBody>
      </p:sp>
      <p:sp>
        <p:nvSpPr>
          <p:cNvPr id="555" name="Google Shape;555;p53"/>
          <p:cNvSpPr/>
          <p:nvPr/>
        </p:nvSpPr>
        <p:spPr>
          <a:xfrm>
            <a:off x="4663440" y="141732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GitHub Pages turns your code folder into a real website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It gives you a free URL (*.github.io)</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No need to pay for a server: it's free!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Our site went live just by pushing code to the Test branch</a:t>
            </a:r>
            <a:endParaRPr sz="1400">
              <a:solidFill>
                <a:schemeClr val="dk1"/>
              </a:solidFill>
              <a:latin typeface="Calibri"/>
              <a:ea typeface="Calibri"/>
              <a:cs typeface="Calibri"/>
              <a:sym typeface="Calibri"/>
            </a:endParaRPr>
          </a:p>
        </p:txBody>
      </p:sp>
      <p:cxnSp>
        <p:nvCxnSpPr>
          <p:cNvPr id="556" name="Google Shape;556;p53"/>
          <p:cNvCxnSpPr/>
          <p:nvPr/>
        </p:nvCxnSpPr>
        <p:spPr>
          <a:xfrm>
            <a:off x="4525055" y="1691645"/>
            <a:ext cx="0" cy="3200400"/>
          </a:xfrm>
          <a:prstGeom prst="straightConnector1">
            <a:avLst/>
          </a:prstGeom>
          <a:noFill/>
          <a:ln cap="flat" cmpd="sng" w="12700">
            <a:solidFill>
              <a:srgbClr val="C9A84C"/>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1" name="Shape 561"/>
        <p:cNvGrpSpPr/>
        <p:nvPr/>
      </p:nvGrpSpPr>
      <p:grpSpPr>
        <a:xfrm>
          <a:off x="0" y="0"/>
          <a:ext cx="0" cy="0"/>
          <a:chOff x="0" y="0"/>
          <a:chExt cx="0" cy="0"/>
        </a:xfrm>
      </p:grpSpPr>
      <p:sp>
        <p:nvSpPr>
          <p:cNvPr id="562" name="Google Shape;562;p54"/>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54"/>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02</a:t>
            </a:r>
            <a:endParaRPr sz="1800">
              <a:solidFill>
                <a:schemeClr val="dk1"/>
              </a:solidFill>
              <a:latin typeface="Calibri"/>
              <a:ea typeface="Calibri"/>
              <a:cs typeface="Calibri"/>
              <a:sym typeface="Calibri"/>
            </a:endParaRPr>
          </a:p>
        </p:txBody>
      </p:sp>
      <p:sp>
        <p:nvSpPr>
          <p:cNvPr id="564" name="Google Shape;564;p54"/>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How We Organized Files</a:t>
            </a:r>
            <a:endParaRPr sz="4400">
              <a:solidFill>
                <a:schemeClr val="dk1"/>
              </a:solidFill>
              <a:latin typeface="Calibri"/>
              <a:ea typeface="Calibri"/>
              <a:cs typeface="Calibri"/>
              <a:sym typeface="Calibri"/>
            </a:endParaRPr>
          </a:p>
        </p:txBody>
      </p:sp>
      <p:pic>
        <p:nvPicPr>
          <p:cNvPr descr="Gloomy Forest Background Free Stock Photo - Public Domain Pictures" id="565" name="Google Shape;565;p54"/>
          <p:cNvPicPr preferRelativeResize="0"/>
          <p:nvPr/>
        </p:nvPicPr>
        <p:blipFill>
          <a:blip r:embed="rId4">
            <a:alphaModFix/>
          </a:blip>
          <a:stretch>
            <a:fillRect/>
          </a:stretch>
        </p:blipFill>
        <p:spPr>
          <a:xfrm>
            <a:off x="0" y="0"/>
            <a:ext cx="9144000" cy="5143500"/>
          </a:xfrm>
          <a:prstGeom prst="rect">
            <a:avLst/>
          </a:prstGeom>
          <a:noFill/>
          <a:ln>
            <a:noFill/>
          </a:ln>
        </p:spPr>
      </p:pic>
      <p:sp>
        <p:nvSpPr>
          <p:cNvPr id="566" name="Google Shape;566;p54"/>
          <p:cNvSpPr txBox="1"/>
          <p:nvPr/>
        </p:nvSpPr>
        <p:spPr>
          <a:xfrm>
            <a:off x="1189950" y="2202450"/>
            <a:ext cx="6764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800">
                <a:solidFill>
                  <a:schemeClr val="dk1"/>
                </a:solidFill>
                <a:latin typeface="Nunito Sans"/>
                <a:ea typeface="Nunito Sans"/>
                <a:cs typeface="Nunito Sans"/>
                <a:sym typeface="Nunito Sans"/>
              </a:rPr>
              <a:t>HOW WE ORGANIZED            </a:t>
            </a:r>
            <a:endParaRPr sz="4800">
              <a:solidFill>
                <a:schemeClr val="dk1"/>
              </a:solidFill>
              <a:latin typeface="Nunito Sans"/>
              <a:ea typeface="Nunito Sans"/>
              <a:cs typeface="Nunito Sans"/>
              <a:sym typeface="Nunito Sans"/>
            </a:endParaRPr>
          </a:p>
        </p:txBody>
      </p:sp>
      <p:sp>
        <p:nvSpPr>
          <p:cNvPr id="567" name="Google Shape;567;p54"/>
          <p:cNvSpPr txBox="1"/>
          <p:nvPr/>
        </p:nvSpPr>
        <p:spPr>
          <a:xfrm>
            <a:off x="1435000" y="3059250"/>
            <a:ext cx="5951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800">
                <a:solidFill>
                  <a:schemeClr val="dk1"/>
                </a:solidFill>
                <a:latin typeface="Nunito Sans"/>
                <a:ea typeface="Nunito Sans"/>
                <a:cs typeface="Nunito Sans"/>
                <a:sym typeface="Nunito Sans"/>
              </a:rPr>
              <a:t>             FILES</a:t>
            </a:r>
            <a:endParaRPr sz="4800">
              <a:solidFill>
                <a:schemeClr val="dk1"/>
              </a:solidFill>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2" name="Shape 572"/>
        <p:cNvGrpSpPr/>
        <p:nvPr/>
      </p:nvGrpSpPr>
      <p:grpSpPr>
        <a:xfrm>
          <a:off x="0" y="0"/>
          <a:ext cx="0" cy="0"/>
          <a:chOff x="0" y="0"/>
          <a:chExt cx="0" cy="0"/>
        </a:xfrm>
      </p:grpSpPr>
      <p:sp>
        <p:nvSpPr>
          <p:cNvPr id="573" name="Google Shape;573;p55"/>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Our File &amp; Folder Layout</a:t>
            </a:r>
            <a:endParaRPr sz="2800">
              <a:solidFill>
                <a:schemeClr val="dk1"/>
              </a:solidFill>
              <a:latin typeface="Calibri"/>
              <a:ea typeface="Calibri"/>
              <a:cs typeface="Calibri"/>
              <a:sym typeface="Calibri"/>
            </a:endParaRPr>
          </a:p>
        </p:txBody>
      </p:sp>
      <p:sp>
        <p:nvSpPr>
          <p:cNvPr id="574" name="Google Shape;574;p55"/>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Think of it like rooms in a house</a:t>
            </a:r>
            <a:endParaRPr sz="1600">
              <a:solidFill>
                <a:schemeClr val="dk1"/>
              </a:solidFill>
              <a:latin typeface="Calibri"/>
              <a:ea typeface="Calibri"/>
              <a:cs typeface="Calibri"/>
              <a:sym typeface="Calibri"/>
            </a:endParaRPr>
          </a:p>
        </p:txBody>
      </p:sp>
      <p:sp>
        <p:nvSpPr>
          <p:cNvPr id="575" name="Google Shape;575;p55"/>
          <p:cNvSpPr/>
          <p:nvPr/>
        </p:nvSpPr>
        <p:spPr>
          <a:xfrm>
            <a:off x="411480" y="1280160"/>
            <a:ext cx="8321040" cy="347472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55"/>
          <p:cNvSpPr/>
          <p:nvPr/>
        </p:nvSpPr>
        <p:spPr>
          <a:xfrm>
            <a:off x="548640" y="1325880"/>
            <a:ext cx="80467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Orange-Belt-Final-Project/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index.html          ← The front door (home page)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team.html           ← Meet the team page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css/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style.css       ← ALL our styling lives here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images/             ← dragon.png, elf.png, pixie.png, forest.png</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dragon/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index.html      ← Dragon gallery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info.html       ← Dragon lore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game.html       ← "Feed the Dragon" mini-game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elf/</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index.html / info.html / game.html   ← Same pattern!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pixies/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index.html / info.html / game.html   ← Same pattern!</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1" name="Shape 581"/>
        <p:cNvGrpSpPr/>
        <p:nvPr/>
      </p:nvGrpSpPr>
      <p:grpSpPr>
        <a:xfrm>
          <a:off x="0" y="0"/>
          <a:ext cx="0" cy="0"/>
          <a:chOff x="0" y="0"/>
          <a:chExt cx="0" cy="0"/>
        </a:xfrm>
      </p:grpSpPr>
      <p:sp>
        <p:nvSpPr>
          <p:cNvPr id="582" name="Google Shape;582;p56"/>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Relative Linking: Navigation Between Pages</a:t>
            </a:r>
            <a:endParaRPr sz="2800">
              <a:solidFill>
                <a:schemeClr val="dk1"/>
              </a:solidFill>
              <a:latin typeface="Calibri"/>
              <a:ea typeface="Calibri"/>
              <a:cs typeface="Calibri"/>
              <a:sym typeface="Calibri"/>
            </a:endParaRPr>
          </a:p>
        </p:txBody>
      </p:sp>
      <p:sp>
        <p:nvSpPr>
          <p:cNvPr id="583" name="Google Shape;583;p56"/>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How we travel from one page to another without breaking links</a:t>
            </a:r>
            <a:endParaRPr sz="1600">
              <a:solidFill>
                <a:schemeClr val="dk1"/>
              </a:solidFill>
              <a:latin typeface="Calibri"/>
              <a:ea typeface="Calibri"/>
              <a:cs typeface="Calibri"/>
              <a:sym typeface="Calibri"/>
            </a:endParaRPr>
          </a:p>
        </p:txBody>
      </p:sp>
      <p:sp>
        <p:nvSpPr>
          <p:cNvPr id="584" name="Google Shape;584;p56"/>
          <p:cNvSpPr/>
          <p:nvPr/>
        </p:nvSpPr>
        <p:spPr>
          <a:xfrm>
            <a:off x="52525" y="1463045"/>
            <a:ext cx="8229600" cy="32919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Absolute link: https://mysite.com/dragon/index.html - full address, always works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Relative link:  ../index.html  - means 'go up one folder, then open index.html'</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We used relative links so the site works on ANY server - local or GitHub Pages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Example</a:t>
            </a:r>
            <a:r>
              <a:rPr lang="en" sz="1500">
                <a:solidFill>
                  <a:srgbClr val="F5F0E8"/>
                </a:solidFill>
                <a:latin typeface="Calibri"/>
                <a:ea typeface="Calibri"/>
                <a:cs typeface="Calibri"/>
                <a:sym typeface="Calibri"/>
              </a:rPr>
              <a:t>/game.html, to get back home we write href="../index.html</a:t>
            </a:r>
            <a:r>
              <a:rPr lang="en" sz="1500">
                <a:solidFill>
                  <a:srgbClr val="F5F0E8"/>
                </a:solidFill>
                <a:latin typeface="Calibri"/>
                <a:ea typeface="Calibri"/>
                <a:cs typeface="Calibri"/>
                <a:sym typeface="Calibri"/>
              </a:rPr>
              <a:t>: inside /dragon"</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just like giving directions: 'go back out the dragon door, you're home!'</a:t>
            </a:r>
            <a:endParaRPr sz="1500">
              <a:solidFill>
                <a:schemeClr val="dk1"/>
              </a:solidFill>
              <a:latin typeface="Calibri"/>
              <a:ea typeface="Calibri"/>
              <a:cs typeface="Calibri"/>
              <a:sym typeface="Calibri"/>
            </a:endParaRPr>
          </a:p>
        </p:txBody>
      </p:sp>
      <p:sp>
        <p:nvSpPr>
          <p:cNvPr id="585" name="Google Shape;585;p56"/>
          <p:cNvSpPr/>
          <p:nvPr/>
        </p:nvSpPr>
        <p:spPr>
          <a:xfrm>
            <a:off x="411480" y="4114800"/>
            <a:ext cx="8321040" cy="64008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56"/>
          <p:cNvSpPr/>
          <p:nvPr/>
        </p:nvSpPr>
        <p:spPr>
          <a:xfrm>
            <a:off x="548640" y="4160520"/>
            <a:ext cx="8046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&lt;a href="../index.html"&gt;🏠 Back to Forest Home&lt;/a&gt;</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1" name="Shape 591"/>
        <p:cNvGrpSpPr/>
        <p:nvPr/>
      </p:nvGrpSpPr>
      <p:grpSpPr>
        <a:xfrm>
          <a:off x="0" y="0"/>
          <a:ext cx="0" cy="0"/>
          <a:chOff x="0" y="0"/>
          <a:chExt cx="0" cy="0"/>
        </a:xfrm>
      </p:grpSpPr>
      <p:sp>
        <p:nvSpPr>
          <p:cNvPr id="592" name="Google Shape;592;p57"/>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57"/>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03</a:t>
            </a:r>
            <a:endParaRPr sz="1800">
              <a:solidFill>
                <a:schemeClr val="dk1"/>
              </a:solidFill>
              <a:latin typeface="Calibri"/>
              <a:ea typeface="Calibri"/>
              <a:cs typeface="Calibri"/>
              <a:sym typeface="Calibri"/>
            </a:endParaRPr>
          </a:p>
        </p:txBody>
      </p:sp>
      <p:sp>
        <p:nvSpPr>
          <p:cNvPr id="594" name="Google Shape;594;p57"/>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CSS Magic ✨</a:t>
            </a:r>
            <a:endParaRPr sz="4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9" name="Shape 599"/>
        <p:cNvGrpSpPr/>
        <p:nvPr/>
      </p:nvGrpSpPr>
      <p:grpSpPr>
        <a:xfrm>
          <a:off x="0" y="0"/>
          <a:ext cx="0" cy="0"/>
          <a:chOff x="0" y="0"/>
          <a:chExt cx="0" cy="0"/>
        </a:xfrm>
      </p:grpSpPr>
      <p:sp>
        <p:nvSpPr>
          <p:cNvPr id="600" name="Google Shape;600;p58"/>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CSS Variables: One Color, Used Everywhere</a:t>
            </a:r>
            <a:endParaRPr sz="2800">
              <a:solidFill>
                <a:schemeClr val="dk1"/>
              </a:solidFill>
              <a:latin typeface="Calibri"/>
              <a:ea typeface="Calibri"/>
              <a:cs typeface="Calibri"/>
              <a:sym typeface="Calibri"/>
            </a:endParaRPr>
          </a:p>
        </p:txBody>
      </p:sp>
      <p:sp>
        <p:nvSpPr>
          <p:cNvPr id="601" name="Google Shape;601;p58"/>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Define once, use forever — like a nickname for a color</a:t>
            </a:r>
            <a:endParaRPr sz="1600">
              <a:solidFill>
                <a:schemeClr val="dk1"/>
              </a:solidFill>
              <a:latin typeface="Calibri"/>
              <a:ea typeface="Calibri"/>
              <a:cs typeface="Calibri"/>
              <a:sym typeface="Calibri"/>
            </a:endParaRPr>
          </a:p>
        </p:txBody>
      </p:sp>
      <p:sp>
        <p:nvSpPr>
          <p:cNvPr id="602" name="Google Shape;602;p58"/>
          <p:cNvSpPr/>
          <p:nvPr/>
        </p:nvSpPr>
        <p:spPr>
          <a:xfrm>
            <a:off x="411480" y="971560"/>
            <a:ext cx="8321100" cy="320040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58"/>
          <p:cNvSpPr/>
          <p:nvPr/>
        </p:nvSpPr>
        <p:spPr>
          <a:xfrm>
            <a:off x="548640" y="1017280"/>
            <a:ext cx="8046600" cy="310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:root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--gold:     #C9A84C;   /* The shiny gold color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--bg-dark:  #0D1B0F;   /* Deep forest black-green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--text:     #F5F0E8;   /* Warm off-white for text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Now use it anywhere!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h2 { color: var(--gold);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nav { background: var(--bg-dark);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p   { color: var(--text); }</a:t>
            </a:r>
            <a:endParaRPr sz="1200">
              <a:solidFill>
                <a:schemeClr val="dk1"/>
              </a:solidFill>
              <a:latin typeface="Calibri"/>
              <a:ea typeface="Calibri"/>
              <a:cs typeface="Calibri"/>
              <a:sym typeface="Calibri"/>
            </a:endParaRPr>
          </a:p>
        </p:txBody>
      </p:sp>
      <p:sp>
        <p:nvSpPr>
          <p:cNvPr id="604" name="Google Shape;604;p58"/>
          <p:cNvSpPr/>
          <p:nvPr/>
        </p:nvSpPr>
        <p:spPr>
          <a:xfrm>
            <a:off x="457150" y="4264588"/>
            <a:ext cx="8229600" cy="731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If we want to change the gold color, we only edit ONE line… not 50!</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called a Design Token… real-world companies use this too</a:t>
            </a:r>
            <a:endParaRPr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9" name="Shape 609"/>
        <p:cNvGrpSpPr/>
        <p:nvPr/>
      </p:nvGrpSpPr>
      <p:grpSpPr>
        <a:xfrm>
          <a:off x="0" y="0"/>
          <a:ext cx="0" cy="0"/>
          <a:chOff x="0" y="0"/>
          <a:chExt cx="0" cy="0"/>
        </a:xfrm>
      </p:grpSpPr>
      <p:sp>
        <p:nvSpPr>
          <p:cNvPr id="610" name="Google Shape;610;p59"/>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Glassmorphism: The Frosted Glass Effect</a:t>
            </a:r>
            <a:endParaRPr sz="2800">
              <a:solidFill>
                <a:schemeClr val="dk1"/>
              </a:solidFill>
              <a:latin typeface="Calibri"/>
              <a:ea typeface="Calibri"/>
              <a:cs typeface="Calibri"/>
              <a:sym typeface="Calibri"/>
            </a:endParaRPr>
          </a:p>
        </p:txBody>
      </p:sp>
      <p:sp>
        <p:nvSpPr>
          <p:cNvPr id="611" name="Google Shape;611;p59"/>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That blurry see-through nav bar is all CSS!</a:t>
            </a:r>
            <a:endParaRPr sz="1600">
              <a:solidFill>
                <a:schemeClr val="dk1"/>
              </a:solidFill>
              <a:latin typeface="Calibri"/>
              <a:ea typeface="Calibri"/>
              <a:cs typeface="Calibri"/>
              <a:sym typeface="Calibri"/>
            </a:endParaRPr>
          </a:p>
        </p:txBody>
      </p:sp>
      <p:sp>
        <p:nvSpPr>
          <p:cNvPr id="612" name="Google Shape;612;p59"/>
          <p:cNvSpPr/>
          <p:nvPr/>
        </p:nvSpPr>
        <p:spPr>
          <a:xfrm>
            <a:off x="411475" y="1097275"/>
            <a:ext cx="5577900" cy="210300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59"/>
          <p:cNvSpPr/>
          <p:nvPr/>
        </p:nvSpPr>
        <p:spPr>
          <a:xfrm>
            <a:off x="503417" y="1142995"/>
            <a:ext cx="5393700" cy="2011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nav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background: rgba(7, 14, 10, 0.6);  /* semi-transparent bg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backdrop-filter: blur(10px);        /* ← THE magic line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border-bottom: 1px solid rgba(201, 168, 76, 0.3);</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14" name="Google Shape;614;p59"/>
          <p:cNvSpPr/>
          <p:nvPr/>
        </p:nvSpPr>
        <p:spPr>
          <a:xfrm>
            <a:off x="228600" y="3337800"/>
            <a:ext cx="5668500" cy="17373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rgba() = Red, Green, Blue, Alpha… the last number (0.6) controls how see-through</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backdrop-filter: blur() blurs whatever is BEHIND the element</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The forest background image shines right through the nav bar</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a modern CSS feature - it didn't exist 5 years ago!</a:t>
            </a:r>
            <a:endParaRPr sz="1500">
              <a:solidFill>
                <a:schemeClr val="dk1"/>
              </a:solidFill>
              <a:latin typeface="Calibri"/>
              <a:ea typeface="Calibri"/>
              <a:cs typeface="Calibri"/>
              <a:sym typeface="Calibri"/>
            </a:endParaRPr>
          </a:p>
        </p:txBody>
      </p:sp>
      <p:pic>
        <p:nvPicPr>
          <p:cNvPr id="615" name="Google Shape;615;p59"/>
          <p:cNvPicPr preferRelativeResize="0"/>
          <p:nvPr/>
        </p:nvPicPr>
        <p:blipFill>
          <a:blip r:embed="rId4">
            <a:alphaModFix/>
          </a:blip>
          <a:stretch>
            <a:fillRect/>
          </a:stretch>
        </p:blipFill>
        <p:spPr>
          <a:xfrm>
            <a:off x="5989374" y="1097275"/>
            <a:ext cx="3108625" cy="3790351"/>
          </a:xfrm>
          <a:prstGeom prst="rect">
            <a:avLst/>
          </a:prstGeom>
          <a:noFill/>
          <a:ln>
            <a:noFill/>
          </a:ln>
        </p:spPr>
      </p:pic>
      <p:sp>
        <p:nvSpPr>
          <p:cNvPr id="616" name="Google Shape;616;p59"/>
          <p:cNvSpPr/>
          <p:nvPr/>
        </p:nvSpPr>
        <p:spPr>
          <a:xfrm>
            <a:off x="5854800" y="3873925"/>
            <a:ext cx="439200" cy="31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1" name="Shape 621"/>
        <p:cNvGrpSpPr/>
        <p:nvPr/>
      </p:nvGrpSpPr>
      <p:grpSpPr>
        <a:xfrm>
          <a:off x="0" y="0"/>
          <a:ext cx="0" cy="0"/>
          <a:chOff x="0" y="0"/>
          <a:chExt cx="0" cy="0"/>
        </a:xfrm>
      </p:grpSpPr>
      <p:sp>
        <p:nvSpPr>
          <p:cNvPr id="622" name="Google Shape;622;p60"/>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CSS Animations: Making Things Move</a:t>
            </a:r>
            <a:endParaRPr sz="2800">
              <a:solidFill>
                <a:schemeClr val="dk1"/>
              </a:solidFill>
              <a:latin typeface="Calibri"/>
              <a:ea typeface="Calibri"/>
              <a:cs typeface="Calibri"/>
              <a:sym typeface="Calibri"/>
            </a:endParaRPr>
          </a:p>
        </p:txBody>
      </p:sp>
      <p:sp>
        <p:nvSpPr>
          <p:cNvPr id="623" name="Google Shape;623;p60"/>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The floating fireflies and drifting forest mist are pure CSS</a:t>
            </a:r>
            <a:endParaRPr sz="1600">
              <a:solidFill>
                <a:schemeClr val="dk1"/>
              </a:solidFill>
              <a:latin typeface="Calibri"/>
              <a:ea typeface="Calibri"/>
              <a:cs typeface="Calibri"/>
              <a:sym typeface="Calibri"/>
            </a:endParaRPr>
          </a:p>
        </p:txBody>
      </p:sp>
      <p:sp>
        <p:nvSpPr>
          <p:cNvPr id="624" name="Google Shape;624;p60"/>
          <p:cNvSpPr/>
          <p:nvPr/>
        </p:nvSpPr>
        <p:spPr>
          <a:xfrm>
            <a:off x="411475" y="1108702"/>
            <a:ext cx="8321100" cy="232650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60"/>
          <p:cNvSpPr/>
          <p:nvPr/>
        </p:nvSpPr>
        <p:spPr>
          <a:xfrm>
            <a:off x="595650" y="1186251"/>
            <a:ext cx="8046600" cy="232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@keyframes float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0%   { transform: translateY(0px);   opacity: 0.8;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50%  { transform: translateY(-20px); opacity: 1;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100% { transform: translateY(0px);   opacity: 0.8;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.particle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animation: float 3s ease-in-out infinite;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26" name="Google Shape;626;p60"/>
          <p:cNvSpPr/>
          <p:nvPr/>
        </p:nvSpPr>
        <p:spPr>
          <a:xfrm>
            <a:off x="457225" y="3601725"/>
            <a:ext cx="8229600" cy="14631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@keyframes defines the START and END of an animation (and any middle steps)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transform: translateY moves the element UP or DOWN in pixels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infinite means it loops forever - like real fireflies!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Each firefly gets a random animation-delay so they don't all move together</a:t>
            </a:r>
            <a:endParaRPr sz="15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1" name="Shape 631"/>
        <p:cNvGrpSpPr/>
        <p:nvPr/>
      </p:nvGrpSpPr>
      <p:grpSpPr>
        <a:xfrm>
          <a:off x="0" y="0"/>
          <a:ext cx="0" cy="0"/>
          <a:chOff x="0" y="0"/>
          <a:chExt cx="0" cy="0"/>
        </a:xfrm>
      </p:grpSpPr>
      <p:sp>
        <p:nvSpPr>
          <p:cNvPr id="632" name="Google Shape;632;p61"/>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CSS Grid &amp; Flexbox: Laying Out the Page</a:t>
            </a:r>
            <a:endParaRPr sz="2800">
              <a:solidFill>
                <a:schemeClr val="dk1"/>
              </a:solidFill>
              <a:latin typeface="Calibri"/>
              <a:ea typeface="Calibri"/>
              <a:cs typeface="Calibri"/>
              <a:sym typeface="Calibri"/>
            </a:endParaRPr>
          </a:p>
        </p:txBody>
      </p:sp>
      <p:sp>
        <p:nvSpPr>
          <p:cNvPr id="633" name="Google Shape;633;p61"/>
          <p:cNvSpPr/>
          <p:nvPr/>
        </p:nvSpPr>
        <p:spPr>
          <a:xfrm>
            <a:off x="457200" y="890145"/>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Two superpowers for arranging elements on screen</a:t>
            </a:r>
            <a:endParaRPr sz="1600">
              <a:solidFill>
                <a:schemeClr val="dk1"/>
              </a:solidFill>
              <a:latin typeface="Calibri"/>
              <a:ea typeface="Calibri"/>
              <a:cs typeface="Calibri"/>
              <a:sym typeface="Calibri"/>
            </a:endParaRPr>
          </a:p>
        </p:txBody>
      </p:sp>
      <p:sp>
        <p:nvSpPr>
          <p:cNvPr id="634" name="Google Shape;634;p61"/>
          <p:cNvSpPr/>
          <p:nvPr/>
        </p:nvSpPr>
        <p:spPr>
          <a:xfrm>
            <a:off x="365760" y="146304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FLEXBOX </a:t>
            </a:r>
            <a:r>
              <a:rPr lang="en">
                <a:solidFill>
                  <a:srgbClr val="F5F0E8"/>
                </a:solidFill>
                <a:latin typeface="Calibri"/>
                <a:ea typeface="Calibri"/>
                <a:cs typeface="Calibri"/>
                <a:sym typeface="Calibri"/>
              </a:rPr>
              <a:t>- </a:t>
            </a:r>
            <a:r>
              <a:rPr lang="en" sz="1400">
                <a:solidFill>
                  <a:srgbClr val="F5F0E8"/>
                </a:solidFill>
                <a:latin typeface="Calibri"/>
                <a:ea typeface="Calibri"/>
                <a:cs typeface="Calibri"/>
                <a:sym typeface="Calibri"/>
              </a:rPr>
              <a:t>arranges items in a row or column</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Perfect for nav bars and centering things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display: flex; justify-content: center;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Think of it like a conveyor belt that lines things up</a:t>
            </a:r>
            <a:endParaRPr sz="1400">
              <a:solidFill>
                <a:schemeClr val="dk1"/>
              </a:solidFill>
              <a:latin typeface="Calibri"/>
              <a:ea typeface="Calibri"/>
              <a:cs typeface="Calibri"/>
              <a:sym typeface="Calibri"/>
            </a:endParaRPr>
          </a:p>
        </p:txBody>
      </p:sp>
      <p:sp>
        <p:nvSpPr>
          <p:cNvPr id="635" name="Google Shape;635;p61"/>
          <p:cNvSpPr/>
          <p:nvPr/>
        </p:nvSpPr>
        <p:spPr>
          <a:xfrm>
            <a:off x="4663440" y="146304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GRID </a:t>
            </a:r>
            <a:r>
              <a:rPr lang="en">
                <a:solidFill>
                  <a:srgbClr val="F5F0E8"/>
                </a:solidFill>
                <a:latin typeface="Calibri"/>
                <a:ea typeface="Calibri"/>
                <a:cs typeface="Calibri"/>
                <a:sym typeface="Calibri"/>
              </a:rPr>
              <a:t>-</a:t>
            </a:r>
            <a:r>
              <a:rPr lang="en" sz="1400">
                <a:solidFill>
                  <a:srgbClr val="F5F0E8"/>
                </a:solidFill>
                <a:latin typeface="Calibri"/>
                <a:ea typeface="Calibri"/>
                <a:cs typeface="Calibri"/>
                <a:sym typeface="Calibri"/>
              </a:rPr>
              <a:t> arranges items in rows AND columns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Used for the creature card layout (3 across!)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display: grid; grid-template-columns: repeat(3, 1fr);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Think of it like a table </a:t>
            </a:r>
            <a:r>
              <a:rPr lang="en">
                <a:solidFill>
                  <a:srgbClr val="F5F0E8"/>
                </a:solidFill>
                <a:latin typeface="Calibri"/>
                <a:ea typeface="Calibri"/>
                <a:cs typeface="Calibri"/>
                <a:sym typeface="Calibri"/>
              </a:rPr>
              <a:t>-</a:t>
            </a:r>
            <a:r>
              <a:rPr lang="en" sz="1400">
                <a:solidFill>
                  <a:srgbClr val="F5F0E8"/>
                </a:solidFill>
                <a:latin typeface="Calibri"/>
                <a:ea typeface="Calibri"/>
                <a:cs typeface="Calibri"/>
                <a:sym typeface="Calibri"/>
              </a:rPr>
              <a:t> rows and columns</a:t>
            </a:r>
            <a:endParaRPr sz="1400">
              <a:solidFill>
                <a:schemeClr val="dk1"/>
              </a:solidFill>
              <a:latin typeface="Calibri"/>
              <a:ea typeface="Calibri"/>
              <a:cs typeface="Calibri"/>
              <a:sym typeface="Calibri"/>
            </a:endParaRPr>
          </a:p>
        </p:txBody>
      </p:sp>
      <p:cxnSp>
        <p:nvCxnSpPr>
          <p:cNvPr id="636" name="Google Shape;636;p61"/>
          <p:cNvCxnSpPr/>
          <p:nvPr/>
        </p:nvCxnSpPr>
        <p:spPr>
          <a:xfrm>
            <a:off x="4519350" y="1727975"/>
            <a:ext cx="6900" cy="2935500"/>
          </a:xfrm>
          <a:prstGeom prst="straightConnector1">
            <a:avLst/>
          </a:prstGeom>
          <a:noFill/>
          <a:ln cap="flat" cmpd="sng" w="12700">
            <a:solidFill>
              <a:srgbClr val="C9A84C"/>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1" name="Shape 641"/>
        <p:cNvGrpSpPr/>
        <p:nvPr/>
      </p:nvGrpSpPr>
      <p:grpSpPr>
        <a:xfrm>
          <a:off x="0" y="0"/>
          <a:ext cx="0" cy="0"/>
          <a:chOff x="0" y="0"/>
          <a:chExt cx="0" cy="0"/>
        </a:xfrm>
      </p:grpSpPr>
      <p:sp>
        <p:nvSpPr>
          <p:cNvPr id="642" name="Google Shape;642;p62"/>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62"/>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04</a:t>
            </a:r>
            <a:endParaRPr sz="1800">
              <a:solidFill>
                <a:schemeClr val="dk1"/>
              </a:solidFill>
              <a:latin typeface="Calibri"/>
              <a:ea typeface="Calibri"/>
              <a:cs typeface="Calibri"/>
              <a:sym typeface="Calibri"/>
            </a:endParaRPr>
          </a:p>
        </p:txBody>
      </p:sp>
      <p:sp>
        <p:nvSpPr>
          <p:cNvPr id="644" name="Google Shape;644;p62"/>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JavaScript: Making It Alive 🧠</a:t>
            </a:r>
            <a:endParaRPr sz="4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9" name="Shape 649"/>
        <p:cNvGrpSpPr/>
        <p:nvPr/>
      </p:nvGrpSpPr>
      <p:grpSpPr>
        <a:xfrm>
          <a:off x="0" y="0"/>
          <a:ext cx="0" cy="0"/>
          <a:chOff x="0" y="0"/>
          <a:chExt cx="0" cy="0"/>
        </a:xfrm>
      </p:grpSpPr>
      <p:sp>
        <p:nvSpPr>
          <p:cNvPr id="650" name="Google Shape;650;p63"/>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E</a:t>
            </a:r>
            <a:r>
              <a:rPr b="1" lang="en" sz="2800">
                <a:solidFill>
                  <a:srgbClr val="C9A84C"/>
                </a:solidFill>
                <a:latin typeface="Georgia"/>
                <a:ea typeface="Georgia"/>
                <a:cs typeface="Georgia"/>
                <a:sym typeface="Georgia"/>
              </a:rPr>
              <a:t>vent Listeners:Listening for Clicks</a:t>
            </a:r>
            <a:endParaRPr sz="2800">
              <a:solidFill>
                <a:schemeClr val="dk1"/>
              </a:solidFill>
              <a:latin typeface="Calibri"/>
              <a:ea typeface="Calibri"/>
              <a:cs typeface="Calibri"/>
              <a:sym typeface="Calibri"/>
            </a:endParaRPr>
          </a:p>
        </p:txBody>
      </p:sp>
      <p:sp>
        <p:nvSpPr>
          <p:cNvPr id="651" name="Google Shape;651;p63"/>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JavaScript waits and watches — then reacts!</a:t>
            </a:r>
            <a:endParaRPr sz="1600">
              <a:solidFill>
                <a:schemeClr val="dk1"/>
              </a:solidFill>
              <a:latin typeface="Calibri"/>
              <a:ea typeface="Calibri"/>
              <a:cs typeface="Calibri"/>
              <a:sym typeface="Calibri"/>
            </a:endParaRPr>
          </a:p>
        </p:txBody>
      </p:sp>
      <p:sp>
        <p:nvSpPr>
          <p:cNvPr id="652" name="Google Shape;652;p63"/>
          <p:cNvSpPr/>
          <p:nvPr/>
        </p:nvSpPr>
        <p:spPr>
          <a:xfrm>
            <a:off x="411480" y="1280160"/>
            <a:ext cx="8321040" cy="310896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63"/>
          <p:cNvSpPr/>
          <p:nvPr/>
        </p:nvSpPr>
        <p:spPr>
          <a:xfrm>
            <a:off x="548640" y="1325880"/>
            <a:ext cx="804672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Grab the button from the HTML</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const enterBtn = document.getElementById('enter-btn');</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Listen for a click, then run a function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enterBtn.addEventListener('click', () =&gt;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Hide the dark overlay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enterOverlay.classList.add('hidden');</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Start playing forest music!</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forestAudio.volume = 0.4;</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forestAudio.play();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54" name="Google Shape;654;p63"/>
          <p:cNvSpPr/>
          <p:nvPr/>
        </p:nvSpPr>
        <p:spPr>
          <a:xfrm>
            <a:off x="457200" y="4526280"/>
            <a:ext cx="8229600" cy="7772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addEventListener('click', ...) means 'when clicked, do THIS'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We can listen for: click, mousemove, keydown, scroll, and more</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The function inside is called a callback — it only runs when the event fires</a:t>
            </a:r>
            <a:endParaRPr sz="15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9" name="Shape 659"/>
        <p:cNvGrpSpPr/>
        <p:nvPr/>
      </p:nvGrpSpPr>
      <p:grpSpPr>
        <a:xfrm>
          <a:off x="0" y="0"/>
          <a:ext cx="0" cy="0"/>
          <a:chOff x="0" y="0"/>
          <a:chExt cx="0" cy="0"/>
        </a:xfrm>
      </p:grpSpPr>
      <p:sp>
        <p:nvSpPr>
          <p:cNvPr id="660" name="Google Shape;660;p64"/>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Audio &amp; The Autoplay Rule</a:t>
            </a:r>
            <a:endParaRPr sz="2800">
              <a:solidFill>
                <a:schemeClr val="dk1"/>
              </a:solidFill>
              <a:latin typeface="Calibri"/>
              <a:ea typeface="Calibri"/>
              <a:cs typeface="Calibri"/>
              <a:sym typeface="Calibri"/>
            </a:endParaRPr>
          </a:p>
        </p:txBody>
      </p:sp>
      <p:sp>
        <p:nvSpPr>
          <p:cNvPr id="661" name="Google Shape;661;p64"/>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Why websites can't just blast sound at you without permission</a:t>
            </a:r>
            <a:endParaRPr sz="1600">
              <a:solidFill>
                <a:schemeClr val="dk1"/>
              </a:solidFill>
              <a:latin typeface="Calibri"/>
              <a:ea typeface="Calibri"/>
              <a:cs typeface="Calibri"/>
              <a:sym typeface="Calibri"/>
            </a:endParaRPr>
          </a:p>
        </p:txBody>
      </p:sp>
      <p:sp>
        <p:nvSpPr>
          <p:cNvPr id="662" name="Google Shape;662;p64"/>
          <p:cNvSpPr/>
          <p:nvPr/>
        </p:nvSpPr>
        <p:spPr>
          <a:xfrm>
            <a:off x="457200" y="1417320"/>
            <a:ext cx="822960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Browsers block audio from auto-playing - so random websites can't scare you</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called the Autoplay Policy - it's a browser rule, not our bug!</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To play audio, the user MUST click something first</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Our solution: show a big 'Enter the Realm' overlay first</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When they click that button, it satisfies the browser AND triggers the music</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forestAudio.play() is called inside the click event listener </a:t>
            </a:r>
            <a:endParaRPr sz="15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7" name="Shape 667"/>
        <p:cNvGrpSpPr/>
        <p:nvPr/>
      </p:nvGrpSpPr>
      <p:grpSpPr>
        <a:xfrm>
          <a:off x="0" y="0"/>
          <a:ext cx="0" cy="0"/>
          <a:chOff x="0" y="0"/>
          <a:chExt cx="0" cy="0"/>
        </a:xfrm>
      </p:grpSpPr>
      <p:sp>
        <p:nvSpPr>
          <p:cNvPr id="668" name="Google Shape;668;p65"/>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State Management: Keeping Score</a:t>
            </a:r>
            <a:endParaRPr sz="2800">
              <a:solidFill>
                <a:schemeClr val="dk1"/>
              </a:solidFill>
              <a:latin typeface="Calibri"/>
              <a:ea typeface="Calibri"/>
              <a:cs typeface="Calibri"/>
              <a:sym typeface="Calibri"/>
            </a:endParaRPr>
          </a:p>
        </p:txBody>
      </p:sp>
      <p:sp>
        <p:nvSpPr>
          <p:cNvPr id="669" name="Google Shape;669;p65"/>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Variables that remember what's happening in the game</a:t>
            </a:r>
            <a:endParaRPr sz="1600">
              <a:solidFill>
                <a:schemeClr val="dk1"/>
              </a:solidFill>
              <a:latin typeface="Calibri"/>
              <a:ea typeface="Calibri"/>
              <a:cs typeface="Calibri"/>
              <a:sym typeface="Calibri"/>
            </a:endParaRPr>
          </a:p>
        </p:txBody>
      </p:sp>
      <p:sp>
        <p:nvSpPr>
          <p:cNvPr id="670" name="Google Shape;670;p65"/>
          <p:cNvSpPr/>
          <p:nvPr/>
        </p:nvSpPr>
        <p:spPr>
          <a:xfrm>
            <a:off x="411480" y="1280160"/>
            <a:ext cx="8321040" cy="310896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65"/>
          <p:cNvSpPr/>
          <p:nvPr/>
        </p:nvSpPr>
        <p:spPr>
          <a:xfrm>
            <a:off x="548640" y="1325880"/>
            <a:ext cx="804672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let score = 0;   // how many gems offered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let hits  = 0;   // how many times the dragon breathed fire</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When the player offers gold: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function offerGold()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score++;                                  // add 1 to score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scoreDisplay.innerText = score;           // update the screen instantly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if (score &gt;= 10)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message.innerText = "The Dragon is pleased!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72" name="Google Shape;672;p65"/>
          <p:cNvSpPr/>
          <p:nvPr/>
        </p:nvSpPr>
        <p:spPr>
          <a:xfrm>
            <a:off x="457200" y="4526280"/>
            <a:ext cx="8229600" cy="7772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Variables like score and hits are our game's 'memory'</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innerText lets us update what the player sees on screen instantly</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called State — the current situation of the game at any moment</a:t>
            </a:r>
            <a:endParaRPr sz="15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7" name="Shape 677"/>
        <p:cNvGrpSpPr/>
        <p:nvPr/>
      </p:nvGrpSpPr>
      <p:grpSpPr>
        <a:xfrm>
          <a:off x="0" y="0"/>
          <a:ext cx="0" cy="0"/>
          <a:chOff x="0" y="0"/>
          <a:chExt cx="0" cy="0"/>
        </a:xfrm>
      </p:grpSpPr>
      <p:sp>
        <p:nvSpPr>
          <p:cNvPr id="678" name="Google Shape;678;p66"/>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66"/>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05</a:t>
            </a:r>
            <a:endParaRPr sz="1800">
              <a:solidFill>
                <a:schemeClr val="dk1"/>
              </a:solidFill>
              <a:latin typeface="Calibri"/>
              <a:ea typeface="Calibri"/>
              <a:cs typeface="Calibri"/>
              <a:sym typeface="Calibri"/>
            </a:endParaRPr>
          </a:p>
        </p:txBody>
      </p:sp>
      <p:sp>
        <p:nvSpPr>
          <p:cNvPr id="680" name="Google Shape;680;p66"/>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Conclusion🏆</a:t>
            </a:r>
            <a:endParaRPr sz="44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5" name="Shape 685"/>
        <p:cNvGrpSpPr/>
        <p:nvPr/>
      </p:nvGrpSpPr>
      <p:grpSpPr>
        <a:xfrm>
          <a:off x="0" y="0"/>
          <a:ext cx="0" cy="0"/>
          <a:chOff x="0" y="0"/>
          <a:chExt cx="0" cy="0"/>
        </a:xfrm>
      </p:grpSpPr>
      <p:sp>
        <p:nvSpPr>
          <p:cNvPr id="686" name="Google Shape;686;p67"/>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Challenges We Faced</a:t>
            </a:r>
            <a:endParaRPr sz="2800">
              <a:solidFill>
                <a:schemeClr val="dk1"/>
              </a:solidFill>
              <a:latin typeface="Calibri"/>
              <a:ea typeface="Calibri"/>
              <a:cs typeface="Calibri"/>
              <a:sym typeface="Calibri"/>
            </a:endParaRPr>
          </a:p>
        </p:txBody>
      </p:sp>
      <p:sp>
        <p:nvSpPr>
          <p:cNvPr id="687" name="Google Shape;687;p67"/>
          <p:cNvSpPr/>
          <p:nvPr/>
        </p:nvSpPr>
        <p:spPr>
          <a:xfrm>
            <a:off x="457200" y="919020"/>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Being a developer means solving problems… here's what we ran into</a:t>
            </a:r>
            <a:endParaRPr sz="1600">
              <a:solidFill>
                <a:schemeClr val="dk1"/>
              </a:solidFill>
              <a:latin typeface="Calibri"/>
              <a:ea typeface="Calibri"/>
              <a:cs typeface="Calibri"/>
              <a:sym typeface="Calibri"/>
            </a:endParaRPr>
          </a:p>
        </p:txBody>
      </p:sp>
      <p:sp>
        <p:nvSpPr>
          <p:cNvPr id="688" name="Google Shape;688;p67"/>
          <p:cNvSpPr/>
          <p:nvPr/>
        </p:nvSpPr>
        <p:spPr>
          <a:xfrm>
            <a:off x="365760" y="1417320"/>
            <a:ext cx="402336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Audio Autoplay blocked by browser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Fixed with the 'Enter the Realm' overlay trick</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Broken links between sub-folders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relative paths ( ../ ) correctly</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Making it look good on all screen sizes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CSS Grid + Flexbox together</a:t>
            </a:r>
            <a:endParaRPr sz="1400">
              <a:solidFill>
                <a:schemeClr val="dk1"/>
              </a:solidFill>
              <a:latin typeface="Calibri"/>
              <a:ea typeface="Calibri"/>
              <a:cs typeface="Calibri"/>
              <a:sym typeface="Calibri"/>
            </a:endParaRPr>
          </a:p>
        </p:txBody>
      </p:sp>
      <p:sp>
        <p:nvSpPr>
          <p:cNvPr id="689" name="Google Shape;689;p67"/>
          <p:cNvSpPr/>
          <p:nvPr/>
        </p:nvSpPr>
        <p:spPr>
          <a:xfrm>
            <a:off x="4663440" y="1417320"/>
            <a:ext cx="402336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Gems pile up and slow the browser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setTimeout to auto-remove old gems</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Keeping colors the same across 10+ files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CSS Variables in :root</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Working as a team on the same codebase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GitHub branches + commit messages</a:t>
            </a:r>
            <a:endParaRPr sz="1400">
              <a:solidFill>
                <a:schemeClr val="dk1"/>
              </a:solidFill>
              <a:latin typeface="Calibri"/>
              <a:ea typeface="Calibri"/>
              <a:cs typeface="Calibri"/>
              <a:sym typeface="Calibri"/>
            </a:endParaRPr>
          </a:p>
        </p:txBody>
      </p:sp>
      <p:cxnSp>
        <p:nvCxnSpPr>
          <p:cNvPr id="690" name="Google Shape;690;p67"/>
          <p:cNvCxnSpPr/>
          <p:nvPr/>
        </p:nvCxnSpPr>
        <p:spPr>
          <a:xfrm>
            <a:off x="4526280" y="1417320"/>
            <a:ext cx="0" cy="3291840"/>
          </a:xfrm>
          <a:prstGeom prst="straightConnector1">
            <a:avLst/>
          </a:prstGeom>
          <a:noFill/>
          <a:ln cap="flat" cmpd="sng" w="12700">
            <a:solidFill>
              <a:srgbClr val="C9A84C"/>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5" name="Shape 695"/>
        <p:cNvGrpSpPr/>
        <p:nvPr/>
      </p:nvGrpSpPr>
      <p:grpSpPr>
        <a:xfrm>
          <a:off x="0" y="0"/>
          <a:ext cx="0" cy="0"/>
          <a:chOff x="0" y="0"/>
          <a:chExt cx="0" cy="0"/>
        </a:xfrm>
      </p:grpSpPr>
      <p:sp>
        <p:nvSpPr>
          <p:cNvPr id="696" name="Google Shape;696;p68"/>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What I Learned </a:t>
            </a:r>
            <a:endParaRPr sz="2800">
              <a:solidFill>
                <a:schemeClr val="dk1"/>
              </a:solidFill>
              <a:latin typeface="Calibri"/>
              <a:ea typeface="Calibri"/>
              <a:cs typeface="Calibri"/>
              <a:sym typeface="Calibri"/>
            </a:endParaRPr>
          </a:p>
        </p:txBody>
      </p:sp>
      <p:sp>
        <p:nvSpPr>
          <p:cNvPr id="697" name="Google Shape;697;p68"/>
          <p:cNvSpPr/>
          <p:nvPr/>
        </p:nvSpPr>
        <p:spPr>
          <a:xfrm>
            <a:off x="457200" y="1417320"/>
            <a:ext cx="8229600" cy="3383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How to design a multi-page site so all the pages feel connected</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CSS Variables are super important, they saved us so much time</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Glassmorphism and @keyframes animations make sites feel premium</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Good folder structure makes teamwork SO much easier</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Relative links are tricky but once you get them, they're powerful</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Real developers use GitHub every day: now I know why!</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Reading error messages is 50% of coding 😄</a:t>
            </a:r>
            <a:endParaRPr sz="15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2" name="Shape 702"/>
        <p:cNvGrpSpPr/>
        <p:nvPr/>
      </p:nvGrpSpPr>
      <p:grpSpPr>
        <a:xfrm>
          <a:off x="0" y="0"/>
          <a:ext cx="0" cy="0"/>
          <a:chOff x="0" y="0"/>
          <a:chExt cx="0" cy="0"/>
        </a:xfrm>
      </p:grpSpPr>
      <p:sp>
        <p:nvSpPr>
          <p:cNvPr id="703" name="Google Shape;703;p69"/>
          <p:cNvSpPr/>
          <p:nvPr/>
        </p:nvSpPr>
        <p:spPr>
          <a:xfrm>
            <a:off x="457200" y="457195"/>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Live Demo Time!</a:t>
            </a:r>
            <a:endParaRPr sz="4400">
              <a:solidFill>
                <a:schemeClr val="dk1"/>
              </a:solidFill>
              <a:latin typeface="Calibri"/>
              <a:ea typeface="Calibri"/>
              <a:cs typeface="Calibri"/>
              <a:sym typeface="Calibri"/>
            </a:endParaRPr>
          </a:p>
        </p:txBody>
      </p:sp>
      <p:sp>
        <p:nvSpPr>
          <p:cNvPr id="704" name="Google Shape;704;p69"/>
          <p:cNvSpPr/>
          <p:nvPr/>
        </p:nvSpPr>
        <p:spPr>
          <a:xfrm>
            <a:off x="320033"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69"/>
          <p:cNvSpPr/>
          <p:nvPr/>
        </p:nvSpPr>
        <p:spPr>
          <a:xfrm>
            <a:off x="484624"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Home Page</a:t>
            </a:r>
            <a:endParaRPr sz="1400">
              <a:solidFill>
                <a:schemeClr val="dk1"/>
              </a:solidFill>
              <a:latin typeface="Calibri"/>
              <a:ea typeface="Calibri"/>
              <a:cs typeface="Calibri"/>
              <a:sym typeface="Calibri"/>
            </a:endParaRPr>
          </a:p>
        </p:txBody>
      </p:sp>
      <p:sp>
        <p:nvSpPr>
          <p:cNvPr id="706" name="Google Shape;706;p69"/>
          <p:cNvSpPr/>
          <p:nvPr/>
        </p:nvSpPr>
        <p:spPr>
          <a:xfrm>
            <a:off x="484624"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Forest bg, fireflies, Enter overlay, audio</a:t>
            </a:r>
            <a:endParaRPr sz="1200">
              <a:solidFill>
                <a:schemeClr val="dk1"/>
              </a:solidFill>
              <a:latin typeface="Calibri"/>
              <a:ea typeface="Calibri"/>
              <a:cs typeface="Calibri"/>
              <a:sym typeface="Calibri"/>
            </a:endParaRPr>
          </a:p>
        </p:txBody>
      </p:sp>
      <p:sp>
        <p:nvSpPr>
          <p:cNvPr id="707" name="Google Shape;707;p69"/>
          <p:cNvSpPr/>
          <p:nvPr/>
        </p:nvSpPr>
        <p:spPr>
          <a:xfrm>
            <a:off x="2039105"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69"/>
          <p:cNvSpPr/>
          <p:nvPr/>
        </p:nvSpPr>
        <p:spPr>
          <a:xfrm>
            <a:off x="2203697"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Dragon Hub</a:t>
            </a:r>
            <a:endParaRPr sz="1400">
              <a:solidFill>
                <a:schemeClr val="dk1"/>
              </a:solidFill>
              <a:latin typeface="Calibri"/>
              <a:ea typeface="Calibri"/>
              <a:cs typeface="Calibri"/>
              <a:sym typeface="Calibri"/>
            </a:endParaRPr>
          </a:p>
        </p:txBody>
      </p:sp>
      <p:sp>
        <p:nvSpPr>
          <p:cNvPr id="709" name="Google Shape;709;p69"/>
          <p:cNvSpPr/>
          <p:nvPr/>
        </p:nvSpPr>
        <p:spPr>
          <a:xfrm>
            <a:off x="2203697"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‘Get Through the Dragon Maze’</a:t>
            </a:r>
            <a:endParaRPr sz="1200">
              <a:solidFill>
                <a:schemeClr val="dk1"/>
              </a:solidFill>
              <a:latin typeface="Calibri"/>
              <a:ea typeface="Calibri"/>
              <a:cs typeface="Calibri"/>
              <a:sym typeface="Calibri"/>
            </a:endParaRPr>
          </a:p>
        </p:txBody>
      </p:sp>
      <p:sp>
        <p:nvSpPr>
          <p:cNvPr id="710" name="Google Shape;710;p69"/>
          <p:cNvSpPr/>
          <p:nvPr/>
        </p:nvSpPr>
        <p:spPr>
          <a:xfrm>
            <a:off x="3758177"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69"/>
          <p:cNvSpPr/>
          <p:nvPr/>
        </p:nvSpPr>
        <p:spPr>
          <a:xfrm>
            <a:off x="3922769"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Elf Hub</a:t>
            </a:r>
            <a:endParaRPr sz="1400">
              <a:solidFill>
                <a:schemeClr val="dk1"/>
              </a:solidFill>
              <a:latin typeface="Calibri"/>
              <a:ea typeface="Calibri"/>
              <a:cs typeface="Calibri"/>
              <a:sym typeface="Calibri"/>
            </a:endParaRPr>
          </a:p>
        </p:txBody>
      </p:sp>
      <p:sp>
        <p:nvSpPr>
          <p:cNvPr id="712" name="Google Shape;712;p69"/>
          <p:cNvSpPr/>
          <p:nvPr/>
        </p:nvSpPr>
        <p:spPr>
          <a:xfrm>
            <a:off x="3922769"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Archery mini-game with score tracking</a:t>
            </a:r>
            <a:endParaRPr sz="1200">
              <a:solidFill>
                <a:schemeClr val="dk1"/>
              </a:solidFill>
              <a:latin typeface="Calibri"/>
              <a:ea typeface="Calibri"/>
              <a:cs typeface="Calibri"/>
              <a:sym typeface="Calibri"/>
            </a:endParaRPr>
          </a:p>
        </p:txBody>
      </p:sp>
      <p:sp>
        <p:nvSpPr>
          <p:cNvPr id="713" name="Google Shape;713;p69"/>
          <p:cNvSpPr/>
          <p:nvPr/>
        </p:nvSpPr>
        <p:spPr>
          <a:xfrm>
            <a:off x="5477249"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69"/>
          <p:cNvSpPr/>
          <p:nvPr/>
        </p:nvSpPr>
        <p:spPr>
          <a:xfrm>
            <a:off x="5641841"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Pixie Hub</a:t>
            </a:r>
            <a:endParaRPr sz="1400">
              <a:solidFill>
                <a:schemeClr val="dk1"/>
              </a:solidFill>
              <a:latin typeface="Calibri"/>
              <a:ea typeface="Calibri"/>
              <a:cs typeface="Calibri"/>
              <a:sym typeface="Calibri"/>
            </a:endParaRPr>
          </a:p>
        </p:txBody>
      </p:sp>
      <p:sp>
        <p:nvSpPr>
          <p:cNvPr id="715" name="Google Shape;715;p69"/>
          <p:cNvSpPr/>
          <p:nvPr/>
        </p:nvSpPr>
        <p:spPr>
          <a:xfrm>
            <a:off x="5641841"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‘Pixie Jump Game’</a:t>
            </a:r>
            <a:endParaRPr sz="1200">
              <a:solidFill>
                <a:schemeClr val="dk1"/>
              </a:solidFill>
              <a:latin typeface="Calibri"/>
              <a:ea typeface="Calibri"/>
              <a:cs typeface="Calibri"/>
              <a:sym typeface="Calibri"/>
            </a:endParaRPr>
          </a:p>
        </p:txBody>
      </p:sp>
      <p:sp>
        <p:nvSpPr>
          <p:cNvPr id="716" name="Google Shape;716;p69"/>
          <p:cNvSpPr/>
          <p:nvPr/>
        </p:nvSpPr>
        <p:spPr>
          <a:xfrm>
            <a:off x="7196321"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69"/>
          <p:cNvSpPr/>
          <p:nvPr/>
        </p:nvSpPr>
        <p:spPr>
          <a:xfrm>
            <a:off x="7360913"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Team Page</a:t>
            </a:r>
            <a:endParaRPr sz="1400">
              <a:solidFill>
                <a:schemeClr val="dk1"/>
              </a:solidFill>
              <a:latin typeface="Calibri"/>
              <a:ea typeface="Calibri"/>
              <a:cs typeface="Calibri"/>
              <a:sym typeface="Calibri"/>
            </a:endParaRPr>
          </a:p>
        </p:txBody>
      </p:sp>
      <p:sp>
        <p:nvSpPr>
          <p:cNvPr id="718" name="Google Shape;718;p69"/>
          <p:cNvSpPr/>
          <p:nvPr/>
        </p:nvSpPr>
        <p:spPr>
          <a:xfrm>
            <a:off x="7360913"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Meet the Fellowship with avatar cards</a:t>
            </a:r>
            <a:endParaRPr sz="1200">
              <a:solidFill>
                <a:schemeClr val="dk1"/>
              </a:solidFill>
              <a:latin typeface="Calibri"/>
              <a:ea typeface="Calibri"/>
              <a:cs typeface="Calibri"/>
              <a:sym typeface="Calibri"/>
            </a:endParaRPr>
          </a:p>
        </p:txBody>
      </p:sp>
      <p:sp>
        <p:nvSpPr>
          <p:cNvPr id="719" name="Google Shape;719;p69"/>
          <p:cNvSpPr/>
          <p:nvPr/>
        </p:nvSpPr>
        <p:spPr>
          <a:xfrm>
            <a:off x="504138" y="4409535"/>
            <a:ext cx="8229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8B5E"/>
              </a:buClr>
              <a:buSzPts val="1200"/>
              <a:buFont typeface="Consolas"/>
              <a:buNone/>
            </a:pPr>
            <a:r>
              <a:rPr i="1" lang="en" sz="1200">
                <a:solidFill>
                  <a:srgbClr val="3D8B5E"/>
                </a:solidFill>
                <a:latin typeface="Consolas"/>
                <a:ea typeface="Consolas"/>
                <a:cs typeface="Consolas"/>
                <a:sym typeface="Consolas"/>
              </a:rPr>
              <a:t>icode-dev-col.github.io/Orange-Belt-Final-Project</a:t>
            </a:r>
            <a:endParaRPr sz="12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4" name="Shape 724"/>
        <p:cNvGrpSpPr/>
        <p:nvPr/>
      </p:nvGrpSpPr>
      <p:grpSpPr>
        <a:xfrm>
          <a:off x="0" y="0"/>
          <a:ext cx="0" cy="0"/>
          <a:chOff x="0" y="0"/>
          <a:chExt cx="0" cy="0"/>
        </a:xfrm>
      </p:grpSpPr>
      <p:sp>
        <p:nvSpPr>
          <p:cNvPr id="725" name="Google Shape;725;p70"/>
          <p:cNvSpPr/>
          <p:nvPr/>
        </p:nvSpPr>
        <p:spPr>
          <a:xfrm>
            <a:off x="0" y="1645920"/>
            <a:ext cx="9144000" cy="182880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70"/>
          <p:cNvSpPr/>
          <p:nvPr/>
        </p:nvSpPr>
        <p:spPr>
          <a:xfrm>
            <a:off x="457200" y="274320"/>
            <a:ext cx="822960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5000"/>
              <a:buFont typeface="Georgia"/>
              <a:buNone/>
            </a:pPr>
            <a:r>
              <a:rPr b="1" lang="en" sz="5000">
                <a:solidFill>
                  <a:srgbClr val="C9A84C"/>
                </a:solidFill>
                <a:latin typeface="Georgia"/>
                <a:ea typeface="Georgia"/>
                <a:cs typeface="Georgia"/>
                <a:sym typeface="Georgia"/>
              </a:rPr>
              <a:t>🌲 Thank You! 🌲</a:t>
            </a:r>
            <a:endParaRPr sz="5000">
              <a:solidFill>
                <a:schemeClr val="dk1"/>
              </a:solidFill>
              <a:latin typeface="Calibri"/>
              <a:ea typeface="Calibri"/>
              <a:cs typeface="Calibri"/>
              <a:sym typeface="Calibri"/>
            </a:endParaRPr>
          </a:p>
        </p:txBody>
      </p:sp>
      <p:sp>
        <p:nvSpPr>
          <p:cNvPr id="727" name="Google Shape;727;p70"/>
          <p:cNvSpPr/>
          <p:nvPr/>
        </p:nvSpPr>
        <p:spPr>
          <a:xfrm>
            <a:off x="548640" y="1737360"/>
            <a:ext cx="8046720" cy="160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700"/>
              <a:buFont typeface="Calibri"/>
              <a:buNone/>
            </a:pPr>
            <a:r>
              <a:rPr lang="en" sz="1700">
                <a:solidFill>
                  <a:srgbClr val="F5F0E8"/>
                </a:solidFill>
                <a:latin typeface="Calibri"/>
                <a:ea typeface="Calibri"/>
                <a:cs typeface="Calibri"/>
                <a:sym typeface="Calibri"/>
              </a:rPr>
              <a:t>The Magical Forest taught us that real websites are built with</a:t>
            </a:r>
            <a:endParaRPr sz="1700">
              <a:solidFill>
                <a:schemeClr val="dk1"/>
              </a:solidFill>
              <a:latin typeface="Calibri"/>
              <a:ea typeface="Calibri"/>
              <a:cs typeface="Calibri"/>
              <a:sym typeface="Calibri"/>
            </a:endParaRPr>
          </a:p>
          <a:p>
            <a:pPr indent="0" lvl="0" marL="0" marR="0" rtl="0" algn="ctr">
              <a:spcBef>
                <a:spcPts val="0"/>
              </a:spcBef>
              <a:spcAft>
                <a:spcPts val="0"/>
              </a:spcAft>
              <a:buClr>
                <a:srgbClr val="F5F0E8"/>
              </a:buClr>
              <a:buSzPts val="1700"/>
              <a:buFont typeface="Calibri"/>
              <a:buNone/>
            </a:pPr>
            <a:r>
              <a:rPr lang="en" sz="1700">
                <a:solidFill>
                  <a:srgbClr val="F5F0E8"/>
                </a:solidFill>
                <a:latin typeface="Calibri"/>
                <a:ea typeface="Calibri"/>
                <a:cs typeface="Calibri"/>
                <a:sym typeface="Calibri"/>
              </a:rPr>
              <a:t>HTML bones, CSS clothes, and JavaScript brains… all working together.</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